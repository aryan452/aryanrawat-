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Bitter"/>
      <p:regular r:id="rId201314"/>
    </p:embeddedFont>
    <p:embeddedFont>
      <p:font typeface="Bitter Bold"/>
      <p:regular r:id="rId201315"/>
    </p:embeddedFont>
    <p:embeddedFont>
      <p:font typeface="Jost"/>
      <p:regular r:id="rId201316"/>
    </p:embeddedFont>
    <p:embeddedFont>
      <p:font typeface="Jost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are walking through the Flipkart sales dashboard without any complicated buzzwords or data jargon. We will explain what the metrics mean, how the charts work, and what decisions they point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dashboard structure on screen: KPI cards span the top row for instant orientation, while regional pies, rating columns, and category bars give deeper diagnostic context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that while the first three numbers are standard financial totals, the bottom three cards show running arithmetic sums used for quick dashboard aggregation.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23% conversion rate so the audience connects the abstract gauge dial to real pocketed cash flow per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the room that Electronics' lead is not necessarily about having more customers, but about the high unit prices typical in consumer tech.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that the difference between first-place West (29.5%) and fourth-place South (20.5%) is only 9 percentage points—proving broad national adoption.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sure the audience understands this dashboard caveat: high totals can simply reflect order volume rather than customer satisfaction.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no single channel shows an alarming concentration of low ratings, indicating consistent delivery and packaging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chart reading caution: lines often imply time, but here the dashboard designer used a line simply to connect discrete product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by connecting back to the opening: 1,000 orders spanning 13.89M INR are supported by stable margins, multi-category reach, and balanced national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7102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17102B"/>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12780" y="1219200"/>
            <a:ext cx="6349841" cy="4419600"/>
          </a:xfrm>
          <a:prstGeom prst="rect">
            <a:avLst/>
          </a:prstGeom>
          <a:noFill/>
          <a:ln w="12700">
            <a:solidFill>
              <a:srgbClr val="FFFFFF">
                <a:alpha val="30000"/>
              </a:srgbClr>
            </a:solidFill>
            <a:prstDash val="solid"/>
          </a:ln>
        </p:spPr>
      </p:sp>
      <p:sp>
        <p:nvSpPr>
          <p:cNvPr id="3" name="Shape 1"/>
          <p:cNvSpPr/>
          <p:nvPr/>
        </p:nvSpPr>
        <p:spPr>
          <a:xfrm>
            <a:off x="825479" y="1231900"/>
            <a:ext cx="6324442" cy="4394200"/>
          </a:xfrm>
          <a:prstGeom prst="rect">
            <a:avLst/>
          </a:prstGeom>
          <a:solidFill>
            <a:srgbClr val="000000">
              <a:alpha val="45000"/>
            </a:srgbClr>
          </a:solidFill>
          <a:ln/>
        </p:spPr>
      </p:sp>
      <p:sp>
        <p:nvSpPr>
          <p:cNvPr id="4" name="Text 2"/>
          <p:cNvSpPr/>
          <p:nvPr/>
        </p:nvSpPr>
        <p:spPr>
          <a:xfrm>
            <a:off x="1257269" y="1638300"/>
            <a:ext cx="6070448"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EXECUTIVE SUMMARY / 2026</a:t>
            </a:r>
            <a:endParaRPr lang="en-US" sz="1050" dirty="0"/>
          </a:p>
        </p:txBody>
      </p:sp>
      <p:sp>
        <p:nvSpPr>
          <p:cNvPr id="5" name="Text 3"/>
          <p:cNvSpPr/>
          <p:nvPr/>
        </p:nvSpPr>
        <p:spPr>
          <a:xfrm>
            <a:off x="1257269" y="1931928"/>
            <a:ext cx="5460863" cy="1592461"/>
          </a:xfrm>
          <a:prstGeom prst="rect">
            <a:avLst/>
          </a:prstGeom>
          <a:noFill/>
          <a:ln/>
        </p:spPr>
        <p:txBody>
          <a:bodyPr wrap="square" lIns="0" tIns="0" rIns="0" bIns="0" rtlCol="0" anchor="t">
            <a:normAutofit/>
          </a:bodyPr>
          <a:lstStyle/>
          <a:p>
            <a:pPr algn="l" indent="0" marL="0">
              <a:lnSpc>
                <a:spcPct val="92000"/>
              </a:lnSpc>
              <a:buNone/>
            </a:pPr>
            <a:r>
              <a:rPr lang="en-US" sz="3800" dirty="0">
                <a:solidFill>
                  <a:srgbClr val="FFFFFF"/>
                </a:solidFill>
                <a:latin typeface="Jost" pitchFamily="34" charset="0"/>
                <a:ea typeface="Jost" pitchFamily="34" charset="-122"/>
                <a:cs typeface="Jost" pitchFamily="34" charset="-120"/>
              </a:rPr>
              <a:t>FLIPKART SALES DASHBOARD,</a:t>
            </a:r>
            <a:endParaRPr lang="en-US" sz="3800" dirty="0"/>
          </a:p>
          <a:p>
            <a:pPr algn="l" indent="0" marL="0">
              <a:lnSpc>
                <a:spcPct val="92000"/>
              </a:lnSpc>
              <a:buNone/>
            </a:pPr>
            <a:r>
              <a:rPr lang="en-US" sz="3800" dirty="0">
                <a:solidFill>
                  <a:srgbClr val="FFFFFF"/>
                </a:solidFill>
                <a:latin typeface="Jost" pitchFamily="34" charset="0"/>
                <a:ea typeface="Jost" pitchFamily="34" charset="-122"/>
                <a:cs typeface="Jost" pitchFamily="34" charset="-120"/>
              </a:rPr>
              <a:t>EXPLAINED SIMPLY</a:t>
            </a:r>
            <a:endParaRPr lang="en-US" sz="3800" dirty="0"/>
          </a:p>
        </p:txBody>
      </p:sp>
      <p:sp>
        <p:nvSpPr>
          <p:cNvPr id="6" name="Shape 4"/>
          <p:cNvSpPr/>
          <p:nvPr/>
        </p:nvSpPr>
        <p:spPr>
          <a:xfrm>
            <a:off x="1257269" y="3712666"/>
            <a:ext cx="1365117" cy="19050"/>
          </a:xfrm>
          <a:prstGeom prst="roundRect">
            <a:avLst>
              <a:gd name="adj" fmla="val 49999"/>
            </a:avLst>
          </a:prstGeom>
          <a:solidFill>
            <a:srgbClr val="4A3670"/>
          </a:solidFill>
          <a:ln/>
        </p:spPr>
      </p:sp>
      <p:sp>
        <p:nvSpPr>
          <p:cNvPr id="7" name="Text 5"/>
          <p:cNvSpPr/>
          <p:nvPr/>
        </p:nvSpPr>
        <p:spPr>
          <a:xfrm>
            <a:off x="1257269" y="3934916"/>
            <a:ext cx="5460863"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FFFFFF"/>
                </a:solidFill>
                <a:latin typeface="Bitter" pitchFamily="34" charset="0"/>
                <a:ea typeface="Bitter" pitchFamily="34" charset="-122"/>
                <a:cs typeface="Bitter" pitchFamily="34" charset="-120"/>
              </a:rPr>
              <a:t>A plain-language guide to 1,000 orders, six key metrics, and nine chart views.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33387" y="1977231"/>
            <a:ext cx="11658308"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01 — DASHBOARD OVERVIEW</a:t>
            </a:r>
            <a:endParaRPr lang="en-US" sz="1050" dirty="0"/>
          </a:p>
        </p:txBody>
      </p:sp>
      <p:sp>
        <p:nvSpPr>
          <p:cNvPr id="3" name="Text 1"/>
          <p:cNvSpPr/>
          <p:nvPr/>
        </p:nvSpPr>
        <p:spPr>
          <a:xfrm>
            <a:off x="533387" y="2282924"/>
            <a:ext cx="11124922" cy="482600"/>
          </a:xfrm>
          <a:prstGeom prst="rect">
            <a:avLst/>
          </a:prstGeom>
          <a:noFill/>
          <a:ln/>
        </p:spPr>
        <p:txBody>
          <a:bodyPr wrap="none" lIns="0" tIns="0" rIns="0" bIns="0" rtlCol="0" anchor="t"/>
          <a:lstStyle/>
          <a:p>
            <a:pPr algn="l" indent="0" marL="0">
              <a:lnSpc>
                <a:spcPct val="83000"/>
              </a:lnSpc>
              <a:buNone/>
            </a:pPr>
            <a:r>
              <a:rPr lang="en-US" sz="3800" dirty="0">
                <a:solidFill>
                  <a:srgbClr val="F2EDFB"/>
                </a:solidFill>
                <a:latin typeface="Jost" pitchFamily="34" charset="0"/>
                <a:ea typeface="Jost" pitchFamily="34" charset="-122"/>
                <a:cs typeface="Jost" pitchFamily="34" charset="-120"/>
              </a:rPr>
              <a:t>ONE SCREEN, NINE WAYS TO READ OUR SALES</a:t>
            </a:r>
            <a:endParaRPr lang="en-US" sz="3800" dirty="0"/>
          </a:p>
        </p:txBody>
      </p:sp>
      <p:sp>
        <p:nvSpPr>
          <p:cNvPr id="4" name="Shape 2"/>
          <p:cNvSpPr/>
          <p:nvPr/>
        </p:nvSpPr>
        <p:spPr>
          <a:xfrm>
            <a:off x="533387" y="2941737"/>
            <a:ext cx="11124922" cy="19050"/>
          </a:xfrm>
          <a:prstGeom prst="roundRect">
            <a:avLst>
              <a:gd name="adj" fmla="val 49999"/>
            </a:avLst>
          </a:prstGeom>
          <a:solidFill>
            <a:srgbClr val="4A3670"/>
          </a:solidFill>
          <a:ln/>
        </p:spPr>
      </p:sp>
      <p:sp>
        <p:nvSpPr>
          <p:cNvPr id="5" name="Text 3"/>
          <p:cNvSpPr/>
          <p:nvPr/>
        </p:nvSpPr>
        <p:spPr>
          <a:xfrm>
            <a:off x="533387" y="3163987"/>
            <a:ext cx="11658308" cy="231080"/>
          </a:xfrm>
          <a:prstGeom prst="rect">
            <a:avLst/>
          </a:prstGeom>
          <a:noFill/>
          <a:ln/>
        </p:spPr>
        <p:txBody>
          <a:bodyPr wrap="none" lIns="0" tIns="0" rIns="0" bIns="0" rtlCol="0" anchor="t"/>
          <a:lstStyle/>
          <a:p>
            <a:pPr algn="l" indent="0" marL="0">
              <a:lnSpc>
                <a:spcPct val="117000"/>
              </a:lnSpc>
              <a:buNone/>
            </a:pPr>
            <a:r>
              <a:rPr lang="en-US" sz="1300" dirty="0">
                <a:solidFill>
                  <a:srgbClr val="F2EDFB"/>
                </a:solidFill>
                <a:latin typeface="Bitter" pitchFamily="34" charset="0"/>
                <a:ea typeface="Bitter" pitchFamily="34" charset="-122"/>
                <a:cs typeface="Bitter" pitchFamily="34" charset="-120"/>
              </a:rPr>
              <a:t>The dashboard condenses 1,000 Flipkart customer orders into six headline cards and six visual charts.</a:t>
            </a:r>
            <a:endParaRPr lang="en-US" sz="1300" dirty="0"/>
          </a:p>
        </p:txBody>
      </p:sp>
      <p:pic>
        <p:nvPicPr>
          <p:cNvPr id="6" name="Image 0" descr="preencoded.png">    </p:cNvPr>
          <p:cNvPicPr>
            <a:picLocks noChangeAspect="1"/>
          </p:cNvPicPr>
          <p:nvPr/>
        </p:nvPicPr>
        <p:blipFill>
          <a:blip r:embed="rId1"/>
          <a:stretch>
            <a:fillRect/>
          </a:stretch>
        </p:blipFill>
        <p:spPr>
          <a:xfrm>
            <a:off x="533387" y="3572887"/>
            <a:ext cx="355591" cy="355600"/>
          </a:xfrm>
          <a:prstGeom prst="rect">
            <a:avLst/>
          </a:prstGeom>
        </p:spPr>
      </p:pic>
      <p:sp>
        <p:nvSpPr>
          <p:cNvPr id="7" name="Text 4"/>
          <p:cNvSpPr/>
          <p:nvPr/>
        </p:nvSpPr>
        <p:spPr>
          <a:xfrm>
            <a:off x="1066773" y="3589695"/>
            <a:ext cx="10591535" cy="237430"/>
          </a:xfrm>
          <a:prstGeom prst="rect">
            <a:avLst/>
          </a:prstGeom>
          <a:noFill/>
          <a:ln/>
        </p:spPr>
        <p:txBody>
          <a:bodyPr wrap="none" lIns="0" tIns="0" rIns="0" bIns="0" rtlCol="0" anchor="t"/>
          <a:lstStyle/>
          <a:p>
            <a:pPr algn="l" indent="0" marL="0">
              <a:lnSpc>
                <a:spcPct val="92000"/>
              </a:lnSpc>
              <a:buNone/>
            </a:pPr>
            <a:r>
              <a:rPr lang="en-US" sz="1700" dirty="0">
                <a:solidFill>
                  <a:srgbClr val="B79CF5"/>
                </a:solidFill>
                <a:latin typeface="Jost" pitchFamily="34" charset="0"/>
                <a:ea typeface="Jost" pitchFamily="34" charset="-122"/>
                <a:cs typeface="Jost" pitchFamily="34" charset="-120"/>
              </a:rPr>
              <a:t>Executive KPIs</a:t>
            </a:r>
            <a:endParaRPr lang="en-US" sz="1700" dirty="0"/>
          </a:p>
        </p:txBody>
      </p:sp>
      <p:sp>
        <p:nvSpPr>
          <p:cNvPr id="8" name="Text 5"/>
          <p:cNvSpPr/>
          <p:nvPr/>
        </p:nvSpPr>
        <p:spPr>
          <a:xfrm>
            <a:off x="1066773" y="3937298"/>
            <a:ext cx="10591535" cy="213320"/>
          </a:xfrm>
          <a:prstGeom prst="rect">
            <a:avLst/>
          </a:prstGeom>
          <a:noFill/>
          <a:ln/>
        </p:spPr>
        <p:txBody>
          <a:bodyPr wrap="none" lIns="0" tIns="0" rIns="0" bIns="0" rtlCol="0" anchor="t"/>
          <a:lstStyle/>
          <a:p>
            <a:pPr algn="l" indent="0" marL="0">
              <a:lnSpc>
                <a:spcPct val="117000"/>
              </a:lnSpc>
              <a:buNone/>
            </a:pPr>
            <a:r>
              <a:rPr lang="en-US" sz="1200" dirty="0">
                <a:solidFill>
                  <a:srgbClr val="F2EDFB"/>
                </a:solidFill>
                <a:latin typeface="Bitter" pitchFamily="34" charset="0"/>
                <a:ea typeface="Bitter" pitchFamily="34" charset="-122"/>
                <a:cs typeface="Bitter" pitchFamily="34" charset="-120"/>
              </a:rPr>
              <a:t>Six summary numbers show total sales, revenue, profit, and order volume.</a:t>
            </a:r>
            <a:endParaRPr lang="en-US" sz="1200" dirty="0"/>
          </a:p>
        </p:txBody>
      </p:sp>
      <p:pic>
        <p:nvPicPr>
          <p:cNvPr id="9" name="Image 1" descr="preencoded.png">    </p:cNvPr>
          <p:cNvPicPr>
            <a:picLocks noChangeAspect="1"/>
          </p:cNvPicPr>
          <p:nvPr/>
        </p:nvPicPr>
        <p:blipFill>
          <a:blip r:embed="rId2"/>
          <a:stretch>
            <a:fillRect/>
          </a:stretch>
        </p:blipFill>
        <p:spPr>
          <a:xfrm>
            <a:off x="533387" y="4303038"/>
            <a:ext cx="355591" cy="355600"/>
          </a:xfrm>
          <a:prstGeom prst="rect">
            <a:avLst/>
          </a:prstGeom>
        </p:spPr>
      </p:pic>
      <p:sp>
        <p:nvSpPr>
          <p:cNvPr id="10" name="Text 6"/>
          <p:cNvSpPr/>
          <p:nvPr/>
        </p:nvSpPr>
        <p:spPr>
          <a:xfrm>
            <a:off x="1066773" y="4319846"/>
            <a:ext cx="10591535" cy="237430"/>
          </a:xfrm>
          <a:prstGeom prst="rect">
            <a:avLst/>
          </a:prstGeom>
          <a:noFill/>
          <a:ln/>
        </p:spPr>
        <p:txBody>
          <a:bodyPr wrap="none" lIns="0" tIns="0" rIns="0" bIns="0" rtlCol="0" anchor="t"/>
          <a:lstStyle/>
          <a:p>
            <a:pPr algn="l" indent="0" marL="0">
              <a:lnSpc>
                <a:spcPct val="92000"/>
              </a:lnSpc>
              <a:buNone/>
            </a:pPr>
            <a:r>
              <a:rPr lang="en-US" sz="1700" dirty="0">
                <a:solidFill>
                  <a:srgbClr val="B79CF5"/>
                </a:solidFill>
                <a:latin typeface="Jost" pitchFamily="34" charset="0"/>
                <a:ea typeface="Jost" pitchFamily="34" charset="-122"/>
                <a:cs typeface="Jost" pitchFamily="34" charset="-120"/>
              </a:rPr>
              <a:t>Focused chart breakdowns</a:t>
            </a:r>
            <a:endParaRPr lang="en-US" sz="1700" dirty="0"/>
          </a:p>
        </p:txBody>
      </p:sp>
      <p:sp>
        <p:nvSpPr>
          <p:cNvPr id="11" name="Text 7"/>
          <p:cNvSpPr/>
          <p:nvPr/>
        </p:nvSpPr>
        <p:spPr>
          <a:xfrm>
            <a:off x="1066773" y="4667448"/>
            <a:ext cx="10591535" cy="213320"/>
          </a:xfrm>
          <a:prstGeom prst="rect">
            <a:avLst/>
          </a:prstGeom>
          <a:noFill/>
          <a:ln/>
        </p:spPr>
        <p:txBody>
          <a:bodyPr wrap="none" lIns="0" tIns="0" rIns="0" bIns="0" rtlCol="0" anchor="t"/>
          <a:lstStyle/>
          <a:p>
            <a:pPr algn="l" indent="0" marL="0">
              <a:lnSpc>
                <a:spcPct val="117000"/>
              </a:lnSpc>
              <a:buNone/>
            </a:pPr>
            <a:r>
              <a:rPr lang="en-US" sz="1200" dirty="0">
                <a:solidFill>
                  <a:srgbClr val="F2EDFB"/>
                </a:solidFill>
                <a:latin typeface="Bitter" pitchFamily="34" charset="0"/>
                <a:ea typeface="Bitter" pitchFamily="34" charset="-122"/>
                <a:cs typeface="Bitter" pitchFamily="34" charset="-120"/>
              </a:rPr>
              <a:t>Each visual answers one practical question about category, city, or channel performance.</a:t>
            </a:r>
            <a:endParaRPr lang="en-US" sz="1200" dirty="0"/>
          </a:p>
        </p:txBody>
      </p:sp>
      <p:sp>
        <p:nvSpPr>
          <p:cNvPr id="12" name="Text 8"/>
          <p:cNvSpPr/>
          <p:nvPr/>
        </p:nvSpPr>
        <p:spPr>
          <a:xfrm>
            <a:off x="177895" y="6466086"/>
            <a:ext cx="3095151"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Flipkart Sales Dashboard, Explained Simply</a:t>
            </a:r>
            <a:endParaRPr lang="en-US" sz="1000" dirty="0"/>
          </a:p>
        </p:txBody>
      </p:sp>
      <p:sp>
        <p:nvSpPr>
          <p:cNvPr id="13" name="Text 9"/>
          <p:cNvSpPr/>
          <p:nvPr/>
        </p:nvSpPr>
        <p:spPr>
          <a:xfrm>
            <a:off x="11946135" y="6466086"/>
            <a:ext cx="245560"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1059656"/>
            <a:ext cx="1158211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02 — HEADLINE METRICS</a:t>
            </a:r>
            <a:endParaRPr lang="en-US" sz="1050" dirty="0"/>
          </a:p>
        </p:txBody>
      </p:sp>
      <p:sp>
        <p:nvSpPr>
          <p:cNvPr id="3" name="Text 1"/>
          <p:cNvSpPr/>
          <p:nvPr/>
        </p:nvSpPr>
        <p:spPr>
          <a:xfrm>
            <a:off x="609585" y="1365349"/>
            <a:ext cx="10972526" cy="482600"/>
          </a:xfrm>
          <a:prstGeom prst="rect">
            <a:avLst/>
          </a:prstGeom>
          <a:noFill/>
          <a:ln/>
        </p:spPr>
        <p:txBody>
          <a:bodyPr wrap="none" lIns="0" tIns="0" rIns="0" bIns="0" rtlCol="0" anchor="t"/>
          <a:lstStyle/>
          <a:p>
            <a:pPr algn="l" indent="0" marL="0">
              <a:lnSpc>
                <a:spcPct val="83000"/>
              </a:lnSpc>
              <a:buNone/>
            </a:pPr>
            <a:r>
              <a:rPr lang="en-US" sz="3800" dirty="0">
                <a:solidFill>
                  <a:srgbClr val="F2EDFB"/>
                </a:solidFill>
                <a:latin typeface="Jost" pitchFamily="34" charset="0"/>
                <a:ea typeface="Jost" pitchFamily="34" charset="-122"/>
                <a:cs typeface="Jost" pitchFamily="34" charset="-120"/>
              </a:rPr>
              <a:t>SIX BIG NUMBERS TELL THE HEADLINE STORY</a:t>
            </a:r>
            <a:endParaRPr lang="en-US" sz="3800" dirty="0"/>
          </a:p>
        </p:txBody>
      </p:sp>
      <p:sp>
        <p:nvSpPr>
          <p:cNvPr id="4" name="Text 2"/>
          <p:cNvSpPr/>
          <p:nvPr/>
        </p:nvSpPr>
        <p:spPr>
          <a:xfrm>
            <a:off x="609585" y="1979712"/>
            <a:ext cx="11582110" cy="213320"/>
          </a:xfrm>
          <a:prstGeom prst="rect">
            <a:avLst/>
          </a:prstGeom>
          <a:noFill/>
          <a:ln/>
        </p:spPr>
        <p:txBody>
          <a:bodyPr wrap="none" lIns="0" tIns="0" rIns="0" bIns="0" rtlCol="0" anchor="t"/>
          <a:lstStyle/>
          <a:p>
            <a:pPr algn="l" indent="0" marL="0">
              <a:lnSpc>
                <a:spcPct val="117000"/>
              </a:lnSpc>
              <a:buNone/>
            </a:pPr>
            <a:r>
              <a:rPr lang="en-US" sz="1200" dirty="0">
                <a:solidFill>
                  <a:srgbClr val="F2EDFB"/>
                </a:solidFill>
                <a:latin typeface="Bitter" pitchFamily="34" charset="0"/>
                <a:ea typeface="Bitter" pitchFamily="34" charset="-122"/>
                <a:cs typeface="Bitter" pitchFamily="34" charset="-120"/>
              </a:rPr>
              <a:t>Together, these six cards capture top-line commercial scale and bottom-line delivery across all 1,000 orders.</a:t>
            </a:r>
            <a:endParaRPr lang="en-US" sz="1200" dirty="0"/>
          </a:p>
        </p:txBody>
      </p:sp>
      <p:sp>
        <p:nvSpPr>
          <p:cNvPr id="5" name="Shape 3"/>
          <p:cNvSpPr/>
          <p:nvPr/>
        </p:nvSpPr>
        <p:spPr>
          <a:xfrm>
            <a:off x="609585" y="2370832"/>
            <a:ext cx="3454314" cy="1773436"/>
          </a:xfrm>
          <a:prstGeom prst="rect">
            <a:avLst/>
          </a:prstGeom>
          <a:solidFill>
            <a:srgbClr val="17102B"/>
          </a:solidFill>
          <a:ln w="6350">
            <a:solidFill>
              <a:srgbClr val="4A3670"/>
            </a:solidFill>
            <a:prstDash val="solid"/>
          </a:ln>
        </p:spPr>
      </p:sp>
      <p:sp>
        <p:nvSpPr>
          <p:cNvPr id="6" name="Text 4"/>
          <p:cNvSpPr/>
          <p:nvPr/>
        </p:nvSpPr>
        <p:spPr>
          <a:xfrm>
            <a:off x="844529" y="2605782"/>
            <a:ext cx="3219369"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TOTAL REVENUE</a:t>
            </a:r>
            <a:endParaRPr lang="en-US" sz="1050" dirty="0"/>
          </a:p>
        </p:txBody>
      </p:sp>
      <p:sp>
        <p:nvSpPr>
          <p:cNvPr id="7" name="Text 5"/>
          <p:cNvSpPr/>
          <p:nvPr/>
        </p:nvSpPr>
        <p:spPr>
          <a:xfrm>
            <a:off x="844529" y="2899092"/>
            <a:ext cx="2984425" cy="474960"/>
          </a:xfrm>
          <a:prstGeom prst="rect">
            <a:avLst/>
          </a:prstGeom>
          <a:noFill/>
          <a:ln/>
        </p:spPr>
        <p:txBody>
          <a:bodyPr wrap="none" lIns="0" tIns="0" rIns="0" bIns="0" rtlCol="0" anchor="t"/>
          <a:lstStyle/>
          <a:p>
            <a:pPr algn="l" indent="0" marL="0">
              <a:lnSpc>
                <a:spcPct val="92000"/>
              </a:lnSpc>
              <a:buNone/>
            </a:pPr>
            <a:r>
              <a:rPr lang="en-US" sz="3400" dirty="0">
                <a:solidFill>
                  <a:srgbClr val="FFFFFF"/>
                </a:solidFill>
                <a:latin typeface="Jost" pitchFamily="34" charset="0"/>
                <a:ea typeface="Jost" pitchFamily="34" charset="-122"/>
                <a:cs typeface="Jost" pitchFamily="34" charset="-120"/>
              </a:rPr>
              <a:t>13.89M</a:t>
            </a:r>
            <a:endParaRPr lang="en-US" sz="3400" dirty="0"/>
          </a:p>
        </p:txBody>
      </p:sp>
      <p:sp>
        <p:nvSpPr>
          <p:cNvPr id="8" name="Text 6"/>
          <p:cNvSpPr/>
          <p:nvPr/>
        </p:nvSpPr>
        <p:spPr>
          <a:xfrm>
            <a:off x="844529" y="3518198"/>
            <a:ext cx="2984425" cy="391120"/>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FFFFFF"/>
                </a:solidFill>
                <a:latin typeface="Bitter" pitchFamily="34" charset="0"/>
                <a:ea typeface="Bitter" pitchFamily="34" charset="-122"/>
                <a:cs typeface="Bitter" pitchFamily="34" charset="-120"/>
              </a:rPr>
              <a:t>Total sales value generated in INR across all customer categories.</a:t>
            </a:r>
            <a:endParaRPr lang="en-US" sz="1100" dirty="0"/>
          </a:p>
        </p:txBody>
      </p:sp>
      <p:sp>
        <p:nvSpPr>
          <p:cNvPr id="9" name="Shape 7"/>
          <p:cNvSpPr/>
          <p:nvPr/>
        </p:nvSpPr>
        <p:spPr>
          <a:xfrm>
            <a:off x="4368691" y="2370832"/>
            <a:ext cx="3454314" cy="1773436"/>
          </a:xfrm>
          <a:prstGeom prst="rect">
            <a:avLst/>
          </a:prstGeom>
          <a:solidFill>
            <a:srgbClr val="4A3670"/>
          </a:solidFill>
          <a:ln w="6350">
            <a:solidFill>
              <a:srgbClr val="4A3670"/>
            </a:solidFill>
            <a:prstDash val="solid"/>
          </a:ln>
        </p:spPr>
      </p:sp>
      <p:sp>
        <p:nvSpPr>
          <p:cNvPr id="10" name="Text 8"/>
          <p:cNvSpPr/>
          <p:nvPr/>
        </p:nvSpPr>
        <p:spPr>
          <a:xfrm>
            <a:off x="4603635" y="2605782"/>
            <a:ext cx="3219369"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E0BBF6"/>
                </a:solidFill>
                <a:latin typeface="Bitter" pitchFamily="34" charset="0"/>
                <a:ea typeface="Bitter" pitchFamily="34" charset="-122"/>
                <a:cs typeface="Bitter" pitchFamily="34" charset="-120"/>
              </a:rPr>
              <a:t>NET PROFIT</a:t>
            </a:r>
            <a:endParaRPr lang="en-US" sz="1050" dirty="0"/>
          </a:p>
        </p:txBody>
      </p:sp>
      <p:sp>
        <p:nvSpPr>
          <p:cNvPr id="11" name="Text 9"/>
          <p:cNvSpPr/>
          <p:nvPr/>
        </p:nvSpPr>
        <p:spPr>
          <a:xfrm>
            <a:off x="4603635" y="2899092"/>
            <a:ext cx="2984425" cy="474960"/>
          </a:xfrm>
          <a:prstGeom prst="rect">
            <a:avLst/>
          </a:prstGeom>
          <a:noFill/>
          <a:ln/>
        </p:spPr>
        <p:txBody>
          <a:bodyPr wrap="none" lIns="0" tIns="0" rIns="0" bIns="0" rtlCol="0" anchor="t"/>
          <a:lstStyle/>
          <a:p>
            <a:pPr algn="l" indent="0" marL="0">
              <a:lnSpc>
                <a:spcPct val="92000"/>
              </a:lnSpc>
              <a:buNone/>
            </a:pPr>
            <a:r>
              <a:rPr lang="en-US" sz="3400" dirty="0">
                <a:solidFill>
                  <a:srgbClr val="FFFFFF"/>
                </a:solidFill>
                <a:latin typeface="Jost" pitchFamily="34" charset="0"/>
                <a:ea typeface="Jost" pitchFamily="34" charset="-122"/>
                <a:cs typeface="Jost" pitchFamily="34" charset="-120"/>
              </a:rPr>
              <a:t>3.18M</a:t>
            </a:r>
            <a:endParaRPr lang="en-US" sz="3400" dirty="0"/>
          </a:p>
        </p:txBody>
      </p:sp>
      <p:sp>
        <p:nvSpPr>
          <p:cNvPr id="12" name="Text 10"/>
          <p:cNvSpPr/>
          <p:nvPr/>
        </p:nvSpPr>
        <p:spPr>
          <a:xfrm>
            <a:off x="4603635" y="3518198"/>
            <a:ext cx="2984425" cy="391120"/>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FFFFFF"/>
                </a:solidFill>
                <a:latin typeface="Bitter" pitchFamily="34" charset="0"/>
                <a:ea typeface="Bitter" pitchFamily="34" charset="-122"/>
                <a:cs typeface="Bitter" pitchFamily="34" charset="-120"/>
              </a:rPr>
              <a:t>Actual profit retained in INR, delivering healthy net margins.</a:t>
            </a:r>
            <a:endParaRPr lang="en-US" sz="1100" dirty="0"/>
          </a:p>
        </p:txBody>
      </p:sp>
      <p:sp>
        <p:nvSpPr>
          <p:cNvPr id="13" name="Shape 11"/>
          <p:cNvSpPr/>
          <p:nvPr/>
        </p:nvSpPr>
        <p:spPr>
          <a:xfrm>
            <a:off x="8127797" y="2370832"/>
            <a:ext cx="3454314" cy="1773436"/>
          </a:xfrm>
          <a:prstGeom prst="rect">
            <a:avLst/>
          </a:prstGeom>
          <a:solidFill>
            <a:srgbClr val="17102B"/>
          </a:solidFill>
          <a:ln w="6350">
            <a:solidFill>
              <a:srgbClr val="4A3670"/>
            </a:solidFill>
            <a:prstDash val="solid"/>
          </a:ln>
        </p:spPr>
      </p:sp>
      <p:sp>
        <p:nvSpPr>
          <p:cNvPr id="14" name="Text 12"/>
          <p:cNvSpPr/>
          <p:nvPr/>
        </p:nvSpPr>
        <p:spPr>
          <a:xfrm>
            <a:off x="8362741" y="2605782"/>
            <a:ext cx="3219369"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VOLUME SOLD</a:t>
            </a:r>
            <a:endParaRPr lang="en-US" sz="1050" dirty="0"/>
          </a:p>
        </p:txBody>
      </p:sp>
      <p:sp>
        <p:nvSpPr>
          <p:cNvPr id="15" name="Text 13"/>
          <p:cNvSpPr/>
          <p:nvPr/>
        </p:nvSpPr>
        <p:spPr>
          <a:xfrm>
            <a:off x="8362741" y="2899092"/>
            <a:ext cx="2984425" cy="474960"/>
          </a:xfrm>
          <a:prstGeom prst="rect">
            <a:avLst/>
          </a:prstGeom>
          <a:noFill/>
          <a:ln/>
        </p:spPr>
        <p:txBody>
          <a:bodyPr wrap="none" lIns="0" tIns="0" rIns="0" bIns="0" rtlCol="0" anchor="t"/>
          <a:lstStyle/>
          <a:p>
            <a:pPr algn="l" indent="0" marL="0">
              <a:lnSpc>
                <a:spcPct val="92000"/>
              </a:lnSpc>
              <a:buNone/>
            </a:pPr>
            <a:r>
              <a:rPr lang="en-US" sz="3400" dirty="0">
                <a:solidFill>
                  <a:srgbClr val="FFFFFF"/>
                </a:solidFill>
                <a:latin typeface="Jost" pitchFamily="34" charset="0"/>
                <a:ea typeface="Jost" pitchFamily="34" charset="-122"/>
                <a:cs typeface="Jost" pitchFamily="34" charset="-120"/>
              </a:rPr>
              <a:t>~3,000</a:t>
            </a:r>
            <a:endParaRPr lang="en-US" sz="3400" dirty="0"/>
          </a:p>
        </p:txBody>
      </p:sp>
      <p:sp>
        <p:nvSpPr>
          <p:cNvPr id="16" name="Text 14"/>
          <p:cNvSpPr/>
          <p:nvPr/>
        </p:nvSpPr>
        <p:spPr>
          <a:xfrm>
            <a:off x="8362741" y="3518198"/>
            <a:ext cx="2984425" cy="391120"/>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FFFFFF"/>
                </a:solidFill>
                <a:latin typeface="Bitter" pitchFamily="34" charset="0"/>
                <a:ea typeface="Bitter" pitchFamily="34" charset="-122"/>
                <a:cs typeface="Bitter" pitchFamily="34" charset="-120"/>
              </a:rPr>
              <a:t>Total physical items dispatched and delivered to buyers nationwide.</a:t>
            </a:r>
            <a:endParaRPr lang="en-US" sz="1100" dirty="0"/>
          </a:p>
        </p:txBody>
      </p:sp>
      <p:sp>
        <p:nvSpPr>
          <p:cNvPr id="17" name="Shape 15"/>
          <p:cNvSpPr/>
          <p:nvPr/>
        </p:nvSpPr>
        <p:spPr>
          <a:xfrm>
            <a:off x="609585" y="4271268"/>
            <a:ext cx="3454314" cy="1527076"/>
          </a:xfrm>
          <a:prstGeom prst="rect">
            <a:avLst/>
          </a:prstGeom>
          <a:noFill/>
          <a:ln w="6350">
            <a:solidFill>
              <a:srgbClr val="4A3670"/>
            </a:solidFill>
            <a:prstDash val="solid"/>
          </a:ln>
        </p:spPr>
      </p:sp>
      <p:sp>
        <p:nvSpPr>
          <p:cNvPr id="18" name="Text 16"/>
          <p:cNvSpPr/>
          <p:nvPr/>
        </p:nvSpPr>
        <p:spPr>
          <a:xfrm>
            <a:off x="844529" y="4506218"/>
            <a:ext cx="3219369"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UNIT PRICE TOTAL</a:t>
            </a:r>
            <a:endParaRPr lang="en-US" sz="1050" dirty="0"/>
          </a:p>
        </p:txBody>
      </p:sp>
      <p:sp>
        <p:nvSpPr>
          <p:cNvPr id="19" name="Text 17"/>
          <p:cNvSpPr/>
          <p:nvPr/>
        </p:nvSpPr>
        <p:spPr>
          <a:xfrm>
            <a:off x="844529" y="4786511"/>
            <a:ext cx="2984425" cy="279400"/>
          </a:xfrm>
          <a:prstGeom prst="rect">
            <a:avLst/>
          </a:prstGeom>
          <a:noFill/>
          <a:ln/>
        </p:spPr>
        <p:txBody>
          <a:bodyPr wrap="none" lIns="0" tIns="0" rIns="0" bIns="0" rtlCol="0" anchor="t"/>
          <a:lstStyle/>
          <a:p>
            <a:pPr algn="l" indent="0" marL="0">
              <a:lnSpc>
                <a:spcPct val="92000"/>
              </a:lnSpc>
              <a:buNone/>
            </a:pPr>
            <a:r>
              <a:rPr lang="en-US" sz="2000" dirty="0">
                <a:solidFill>
                  <a:srgbClr val="B79CF5"/>
                </a:solidFill>
                <a:latin typeface="Jost" pitchFamily="34" charset="0"/>
                <a:ea typeface="Jost" pitchFamily="34" charset="-122"/>
                <a:cs typeface="Jost" pitchFamily="34" charset="-120"/>
              </a:rPr>
              <a:t>Catalogue sum</a:t>
            </a:r>
            <a:endParaRPr lang="en-US" sz="2000" dirty="0"/>
          </a:p>
        </p:txBody>
      </p:sp>
      <p:sp>
        <p:nvSpPr>
          <p:cNvPr id="20" name="Text 18"/>
          <p:cNvSpPr/>
          <p:nvPr/>
        </p:nvSpPr>
        <p:spPr>
          <a:xfrm>
            <a:off x="844529" y="5172273"/>
            <a:ext cx="2984425" cy="391120"/>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F2EDFB"/>
                </a:solidFill>
                <a:latin typeface="Bitter" pitchFamily="34" charset="0"/>
                <a:ea typeface="Bitter" pitchFamily="34" charset="-122"/>
                <a:cs typeface="Bitter" pitchFamily="34" charset="-120"/>
              </a:rPr>
              <a:t>List prices aggregated across every SKU sold in the dataset.</a:t>
            </a:r>
            <a:endParaRPr lang="en-US" sz="1100" dirty="0"/>
          </a:p>
        </p:txBody>
      </p:sp>
      <p:sp>
        <p:nvSpPr>
          <p:cNvPr id="21" name="Shape 19"/>
          <p:cNvSpPr/>
          <p:nvPr/>
        </p:nvSpPr>
        <p:spPr>
          <a:xfrm>
            <a:off x="4368691" y="4271268"/>
            <a:ext cx="3454314" cy="1527076"/>
          </a:xfrm>
          <a:prstGeom prst="rect">
            <a:avLst/>
          </a:prstGeom>
          <a:noFill/>
          <a:ln w="6350">
            <a:solidFill>
              <a:srgbClr val="4A3670"/>
            </a:solidFill>
            <a:prstDash val="solid"/>
          </a:ln>
        </p:spPr>
      </p:sp>
      <p:sp>
        <p:nvSpPr>
          <p:cNvPr id="22" name="Text 20"/>
          <p:cNvSpPr/>
          <p:nvPr/>
        </p:nvSpPr>
        <p:spPr>
          <a:xfrm>
            <a:off x="4603635" y="4506218"/>
            <a:ext cx="3219369"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RATING SUM</a:t>
            </a:r>
            <a:endParaRPr lang="en-US" sz="1050" dirty="0"/>
          </a:p>
        </p:txBody>
      </p:sp>
      <p:sp>
        <p:nvSpPr>
          <p:cNvPr id="23" name="Text 21"/>
          <p:cNvSpPr/>
          <p:nvPr/>
        </p:nvSpPr>
        <p:spPr>
          <a:xfrm>
            <a:off x="4603635" y="4786511"/>
            <a:ext cx="2984425" cy="279400"/>
          </a:xfrm>
          <a:prstGeom prst="rect">
            <a:avLst/>
          </a:prstGeom>
          <a:noFill/>
          <a:ln/>
        </p:spPr>
        <p:txBody>
          <a:bodyPr wrap="none" lIns="0" tIns="0" rIns="0" bIns="0" rtlCol="0" anchor="t"/>
          <a:lstStyle/>
          <a:p>
            <a:pPr algn="l" indent="0" marL="0">
              <a:lnSpc>
                <a:spcPct val="92000"/>
              </a:lnSpc>
              <a:buNone/>
            </a:pPr>
            <a:r>
              <a:rPr lang="en-US" sz="2000" dirty="0">
                <a:solidFill>
                  <a:srgbClr val="B79CF5"/>
                </a:solidFill>
                <a:latin typeface="Jost" pitchFamily="34" charset="0"/>
                <a:ea typeface="Jost" pitchFamily="34" charset="-122"/>
                <a:cs typeface="Jost" pitchFamily="34" charset="-120"/>
              </a:rPr>
              <a:t>Review aggregate</a:t>
            </a:r>
            <a:endParaRPr lang="en-US" sz="2000" dirty="0"/>
          </a:p>
        </p:txBody>
      </p:sp>
      <p:sp>
        <p:nvSpPr>
          <p:cNvPr id="24" name="Text 22"/>
          <p:cNvSpPr/>
          <p:nvPr/>
        </p:nvSpPr>
        <p:spPr>
          <a:xfrm>
            <a:off x="4603635" y="5172273"/>
            <a:ext cx="2984425" cy="391120"/>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F2EDFB"/>
                </a:solidFill>
                <a:latin typeface="Bitter" pitchFamily="34" charset="0"/>
                <a:ea typeface="Bitter" pitchFamily="34" charset="-122"/>
                <a:cs typeface="Bitter" pitchFamily="34" charset="-120"/>
              </a:rPr>
              <a:t>Customer review stars totaled across all recorded transactions.</a:t>
            </a:r>
            <a:endParaRPr lang="en-US" sz="1100" dirty="0"/>
          </a:p>
        </p:txBody>
      </p:sp>
      <p:sp>
        <p:nvSpPr>
          <p:cNvPr id="25" name="Shape 23"/>
          <p:cNvSpPr/>
          <p:nvPr/>
        </p:nvSpPr>
        <p:spPr>
          <a:xfrm>
            <a:off x="8127797" y="4271268"/>
            <a:ext cx="3454314" cy="1527076"/>
          </a:xfrm>
          <a:prstGeom prst="rect">
            <a:avLst/>
          </a:prstGeom>
          <a:noFill/>
          <a:ln w="6350">
            <a:solidFill>
              <a:srgbClr val="4A3670"/>
            </a:solidFill>
            <a:prstDash val="solid"/>
          </a:ln>
        </p:spPr>
      </p:sp>
      <p:sp>
        <p:nvSpPr>
          <p:cNvPr id="26" name="Text 24"/>
          <p:cNvSpPr/>
          <p:nvPr/>
        </p:nvSpPr>
        <p:spPr>
          <a:xfrm>
            <a:off x="8362741" y="4506218"/>
            <a:ext cx="3219369"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DISCOUNT TOTAL</a:t>
            </a:r>
            <a:endParaRPr lang="en-US" sz="1050" dirty="0"/>
          </a:p>
        </p:txBody>
      </p:sp>
      <p:sp>
        <p:nvSpPr>
          <p:cNvPr id="27" name="Text 25"/>
          <p:cNvSpPr/>
          <p:nvPr/>
        </p:nvSpPr>
        <p:spPr>
          <a:xfrm>
            <a:off x="8362741" y="4786511"/>
            <a:ext cx="2984425" cy="279400"/>
          </a:xfrm>
          <a:prstGeom prst="rect">
            <a:avLst/>
          </a:prstGeom>
          <a:noFill/>
          <a:ln/>
        </p:spPr>
        <p:txBody>
          <a:bodyPr wrap="none" lIns="0" tIns="0" rIns="0" bIns="0" rtlCol="0" anchor="t"/>
          <a:lstStyle/>
          <a:p>
            <a:pPr algn="l" indent="0" marL="0">
              <a:lnSpc>
                <a:spcPct val="92000"/>
              </a:lnSpc>
              <a:buNone/>
            </a:pPr>
            <a:r>
              <a:rPr lang="en-US" sz="2000" dirty="0">
                <a:solidFill>
                  <a:srgbClr val="B79CF5"/>
                </a:solidFill>
                <a:latin typeface="Jost" pitchFamily="34" charset="0"/>
                <a:ea typeface="Jost" pitchFamily="34" charset="-122"/>
                <a:cs typeface="Jost" pitchFamily="34" charset="-120"/>
              </a:rPr>
              <a:t>Promo pool</a:t>
            </a:r>
            <a:endParaRPr lang="en-US" sz="2000" dirty="0"/>
          </a:p>
        </p:txBody>
      </p:sp>
      <p:sp>
        <p:nvSpPr>
          <p:cNvPr id="28" name="Text 26"/>
          <p:cNvSpPr/>
          <p:nvPr/>
        </p:nvSpPr>
        <p:spPr>
          <a:xfrm>
            <a:off x="8362741" y="5172273"/>
            <a:ext cx="2984425" cy="391120"/>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F2EDFB"/>
                </a:solidFill>
                <a:latin typeface="Bitter" pitchFamily="34" charset="0"/>
                <a:ea typeface="Bitter" pitchFamily="34" charset="-122"/>
                <a:cs typeface="Bitter" pitchFamily="34" charset="-120"/>
              </a:rPr>
              <a:t>Total percentage points conceded across sales campaigns.</a:t>
            </a:r>
            <a:endParaRPr lang="en-US" sz="1100" dirty="0"/>
          </a:p>
        </p:txBody>
      </p:sp>
      <p:sp>
        <p:nvSpPr>
          <p:cNvPr id="29" name="Text 27"/>
          <p:cNvSpPr/>
          <p:nvPr/>
        </p:nvSpPr>
        <p:spPr>
          <a:xfrm>
            <a:off x="177895" y="6466086"/>
            <a:ext cx="3095151"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Flipkart Sales Dashboard, Explained Simply</a:t>
            </a:r>
            <a:endParaRPr lang="en-US" sz="1000" dirty="0"/>
          </a:p>
        </p:txBody>
      </p:sp>
      <p:sp>
        <p:nvSpPr>
          <p:cNvPr id="30" name="Text 28"/>
          <p:cNvSpPr/>
          <p:nvPr/>
        </p:nvSpPr>
        <p:spPr>
          <a:xfrm>
            <a:off x="11942960" y="6466086"/>
            <a:ext cx="248735"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1206599"/>
            <a:ext cx="1158211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03 — PROFIT GAUGE</a:t>
            </a:r>
            <a:endParaRPr lang="en-US" sz="1050" dirty="0"/>
          </a:p>
        </p:txBody>
      </p:sp>
      <p:sp>
        <p:nvSpPr>
          <p:cNvPr id="3" name="Text 1"/>
          <p:cNvSpPr/>
          <p:nvPr/>
        </p:nvSpPr>
        <p:spPr>
          <a:xfrm>
            <a:off x="609585" y="1512292"/>
            <a:ext cx="10972526" cy="965200"/>
          </a:xfrm>
          <a:prstGeom prst="rect">
            <a:avLst/>
          </a:prstGeom>
          <a:noFill/>
          <a:ln/>
        </p:spPr>
        <p:txBody>
          <a:bodyPr wrap="square" lIns="0" tIns="0" rIns="0" bIns="0" rtlCol="0" anchor="t">
            <a:normAutofit/>
          </a:bodyPr>
          <a:lstStyle/>
          <a:p>
            <a:pPr algn="l" indent="0" marL="0">
              <a:lnSpc>
                <a:spcPct val="83000"/>
              </a:lnSpc>
              <a:buNone/>
            </a:pPr>
            <a:r>
              <a:rPr lang="en-US" sz="3800" dirty="0">
                <a:solidFill>
                  <a:srgbClr val="F2EDFB"/>
                </a:solidFill>
                <a:latin typeface="Jost" pitchFamily="34" charset="0"/>
                <a:ea typeface="Jost" pitchFamily="34" charset="-122"/>
                <a:cs typeface="Jost" pitchFamily="34" charset="-120"/>
              </a:rPr>
              <a:t>PROFIT GAUGE: WE ARE HALFWAY TO THE DIAL'S MAXIMUM</a:t>
            </a:r>
            <a:endParaRPr lang="en-US" sz="3800" dirty="0"/>
          </a:p>
        </p:txBody>
      </p:sp>
      <p:sp>
        <p:nvSpPr>
          <p:cNvPr id="4" name="Text 2"/>
          <p:cNvSpPr/>
          <p:nvPr/>
        </p:nvSpPr>
        <p:spPr>
          <a:xfrm>
            <a:off x="609585" y="2609255"/>
            <a:ext cx="11582110" cy="213320"/>
          </a:xfrm>
          <a:prstGeom prst="rect">
            <a:avLst/>
          </a:prstGeom>
          <a:noFill/>
          <a:ln/>
        </p:spPr>
        <p:txBody>
          <a:bodyPr wrap="none" lIns="0" tIns="0" rIns="0" bIns="0" rtlCol="0" anchor="t"/>
          <a:lstStyle/>
          <a:p>
            <a:pPr algn="l" indent="0" marL="0">
              <a:lnSpc>
                <a:spcPct val="117000"/>
              </a:lnSpc>
              <a:buNone/>
            </a:pPr>
            <a:r>
              <a:rPr lang="en-US" sz="1200" dirty="0">
                <a:solidFill>
                  <a:srgbClr val="F2EDFB"/>
                </a:solidFill>
                <a:latin typeface="Bitter" pitchFamily="34" charset="0"/>
                <a:ea typeface="Bitter" pitchFamily="34" charset="-122"/>
                <a:cs typeface="Bitter" pitchFamily="34" charset="-120"/>
              </a:rPr>
              <a:t>A gauge works exactly like a car speedometer: the needle tracks current performance against an upper boundary.</a:t>
            </a:r>
            <a:endParaRPr lang="en-US" sz="1200" dirty="0"/>
          </a:p>
        </p:txBody>
      </p:sp>
      <p:sp>
        <p:nvSpPr>
          <p:cNvPr id="5" name="Shape 3"/>
          <p:cNvSpPr/>
          <p:nvPr/>
        </p:nvSpPr>
        <p:spPr>
          <a:xfrm>
            <a:off x="609585" y="3051175"/>
            <a:ext cx="6309262" cy="2600127"/>
          </a:xfrm>
          <a:prstGeom prst="rect">
            <a:avLst/>
          </a:prstGeom>
          <a:solidFill>
            <a:srgbClr val="17102B"/>
          </a:solidFill>
          <a:ln w="6350">
            <a:solidFill>
              <a:srgbClr val="4A3670"/>
            </a:solidFill>
            <a:prstDash val="solid"/>
          </a:ln>
        </p:spPr>
      </p:sp>
      <p:sp>
        <p:nvSpPr>
          <p:cNvPr id="6" name="Text 4"/>
          <p:cNvSpPr/>
          <p:nvPr/>
        </p:nvSpPr>
        <p:spPr>
          <a:xfrm>
            <a:off x="971526" y="3362325"/>
            <a:ext cx="5947321"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CURRENT POSITION ON DIAL</a:t>
            </a:r>
            <a:endParaRPr lang="en-US" sz="1050" dirty="0"/>
          </a:p>
        </p:txBody>
      </p:sp>
      <p:sp>
        <p:nvSpPr>
          <p:cNvPr id="7" name="Text 5"/>
          <p:cNvSpPr/>
          <p:nvPr/>
        </p:nvSpPr>
        <p:spPr>
          <a:xfrm>
            <a:off x="971526" y="3648015"/>
            <a:ext cx="5585380" cy="391120"/>
          </a:xfrm>
          <a:prstGeom prst="rect">
            <a:avLst/>
          </a:prstGeom>
          <a:noFill/>
          <a:ln/>
        </p:spPr>
        <p:txBody>
          <a:bodyPr wrap="none" lIns="0" tIns="0" rIns="0" bIns="0" rtlCol="0" anchor="t"/>
          <a:lstStyle/>
          <a:p>
            <a:pPr algn="l" indent="0" marL="0">
              <a:lnSpc>
                <a:spcPct val="92000"/>
              </a:lnSpc>
              <a:buNone/>
            </a:pPr>
            <a:r>
              <a:rPr lang="en-US" sz="2800" dirty="0">
                <a:solidFill>
                  <a:srgbClr val="FFFFFF"/>
                </a:solidFill>
                <a:latin typeface="Jost" pitchFamily="34" charset="0"/>
                <a:ea typeface="Jost" pitchFamily="34" charset="-122"/>
                <a:cs typeface="Jost" pitchFamily="34" charset="-120"/>
              </a:rPr>
              <a:t>3.18M INR / 6.36M Max (50%)</a:t>
            </a:r>
            <a:endParaRPr lang="en-US" sz="2800" dirty="0"/>
          </a:p>
        </p:txBody>
      </p:sp>
      <p:pic>
        <p:nvPicPr>
          <p:cNvPr id="8" name="Image 0" descr="preencoded.png">    </p:cNvPr>
          <p:cNvPicPr>
            <a:picLocks noChangeAspect="1"/>
          </p:cNvPicPr>
          <p:nvPr/>
        </p:nvPicPr>
        <p:blipFill>
          <a:blip r:embed="rId1"/>
          <a:stretch>
            <a:fillRect/>
          </a:stretch>
        </p:blipFill>
        <p:spPr>
          <a:xfrm>
            <a:off x="971526" y="4190901"/>
            <a:ext cx="5585380" cy="544810"/>
          </a:xfrm>
          <a:prstGeom prst="rect">
            <a:avLst/>
          </a:prstGeom>
        </p:spPr>
      </p:pic>
      <p:sp>
        <p:nvSpPr>
          <p:cNvPr id="9" name="Text 6"/>
          <p:cNvSpPr/>
          <p:nvPr/>
        </p:nvSpPr>
        <p:spPr>
          <a:xfrm>
            <a:off x="971526" y="4913511"/>
            <a:ext cx="5585380" cy="426641"/>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FFFFFF"/>
                </a:solidFill>
                <a:latin typeface="Bitter" pitchFamily="34" charset="0"/>
                <a:ea typeface="Bitter" pitchFamily="34" charset="-122"/>
                <a:cs typeface="Bitter" pitchFamily="34" charset="-120"/>
              </a:rPr>
              <a:t>The gauge target is calibrated to double current profit, positioning the pointer dead-center at 50%.</a:t>
            </a:r>
            <a:endParaRPr lang="en-US" sz="1200" dirty="0"/>
          </a:p>
        </p:txBody>
      </p:sp>
      <p:sp>
        <p:nvSpPr>
          <p:cNvPr id="10" name="Shape 7"/>
          <p:cNvSpPr/>
          <p:nvPr/>
        </p:nvSpPr>
        <p:spPr>
          <a:xfrm>
            <a:off x="7375936" y="3051175"/>
            <a:ext cx="4206174" cy="2600127"/>
          </a:xfrm>
          <a:prstGeom prst="rect">
            <a:avLst/>
          </a:prstGeom>
          <a:noFill/>
          <a:ln w="6350">
            <a:solidFill>
              <a:srgbClr val="4A3670"/>
            </a:solidFill>
            <a:prstDash val="solid"/>
          </a:ln>
        </p:spPr>
      </p:sp>
      <p:sp>
        <p:nvSpPr>
          <p:cNvPr id="11" name="Text 8"/>
          <p:cNvSpPr/>
          <p:nvPr/>
        </p:nvSpPr>
        <p:spPr>
          <a:xfrm>
            <a:off x="7661679" y="3494088"/>
            <a:ext cx="3920432"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PROFIT CONVERSION</a:t>
            </a:r>
            <a:endParaRPr lang="en-US" sz="1050" dirty="0"/>
          </a:p>
        </p:txBody>
      </p:sp>
      <p:sp>
        <p:nvSpPr>
          <p:cNvPr id="12" name="Text 9"/>
          <p:cNvSpPr/>
          <p:nvPr/>
        </p:nvSpPr>
        <p:spPr>
          <a:xfrm>
            <a:off x="7661679" y="3787398"/>
            <a:ext cx="3634689" cy="474960"/>
          </a:xfrm>
          <a:prstGeom prst="rect">
            <a:avLst/>
          </a:prstGeom>
          <a:noFill/>
          <a:ln/>
        </p:spPr>
        <p:txBody>
          <a:bodyPr wrap="none" lIns="0" tIns="0" rIns="0" bIns="0" rtlCol="0" anchor="t"/>
          <a:lstStyle/>
          <a:p>
            <a:pPr algn="l" indent="0" marL="0">
              <a:lnSpc>
                <a:spcPct val="92000"/>
              </a:lnSpc>
              <a:buNone/>
            </a:pPr>
            <a:r>
              <a:rPr lang="en-US" sz="3400" dirty="0">
                <a:solidFill>
                  <a:srgbClr val="B79CF5"/>
                </a:solidFill>
                <a:latin typeface="Jost" pitchFamily="34" charset="0"/>
                <a:ea typeface="Jost" pitchFamily="34" charset="-122"/>
                <a:cs typeface="Jost" pitchFamily="34" charset="-120"/>
              </a:rPr>
              <a:t>~23% Margin</a:t>
            </a:r>
            <a:endParaRPr lang="en-US" sz="3400" dirty="0"/>
          </a:p>
        </p:txBody>
      </p:sp>
      <p:sp>
        <p:nvSpPr>
          <p:cNvPr id="13" name="Shape 10"/>
          <p:cNvSpPr/>
          <p:nvPr/>
        </p:nvSpPr>
        <p:spPr>
          <a:xfrm>
            <a:off x="7661679" y="4400153"/>
            <a:ext cx="3634590" cy="19050"/>
          </a:xfrm>
          <a:prstGeom prst="roundRect">
            <a:avLst>
              <a:gd name="adj" fmla="val 49999"/>
            </a:avLst>
          </a:prstGeom>
          <a:solidFill>
            <a:srgbClr val="4A3670"/>
          </a:solidFill>
          <a:ln/>
        </p:spPr>
      </p:sp>
      <p:sp>
        <p:nvSpPr>
          <p:cNvPr id="14" name="Text 11"/>
          <p:cNvSpPr/>
          <p:nvPr/>
        </p:nvSpPr>
        <p:spPr>
          <a:xfrm>
            <a:off x="7661679" y="4568428"/>
            <a:ext cx="3634689" cy="639961"/>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F2EDFB"/>
                </a:solidFill>
                <a:latin typeface="Bitter" pitchFamily="34" charset="0"/>
                <a:ea typeface="Bitter" pitchFamily="34" charset="-122"/>
                <a:cs typeface="Bitter" pitchFamily="34" charset="-120"/>
              </a:rPr>
              <a:t>For every </a:t>
            </a:r>
            <a:pPr algn="l" indent="0" marL="0">
              <a:lnSpc>
                <a:spcPct val="117000"/>
              </a:lnSpc>
              <a:buNone/>
            </a:pPr>
            <a:r>
              <a:rPr lang="en-US" sz="1200" b="1" dirty="0">
                <a:solidFill>
                  <a:srgbClr val="F2EDFB"/>
                </a:solidFill>
                <a:latin typeface="Bitter Bold" pitchFamily="34" charset="0"/>
                <a:ea typeface="Bitter Bold" pitchFamily="34" charset="-122"/>
                <a:cs typeface="Bitter Bold" pitchFamily="34" charset="-120"/>
              </a:rPr>
              <a:t>100 INR</a:t>
            </a:r>
            <a:pPr algn="l" indent="0" marL="0">
              <a:lnSpc>
                <a:spcPct val="117000"/>
              </a:lnSpc>
              <a:buNone/>
            </a:pPr>
            <a:r>
              <a:rPr lang="en-US" sz="1200" dirty="0">
                <a:solidFill>
                  <a:srgbClr val="F2EDFB"/>
                </a:solidFill>
                <a:latin typeface="Bitter" pitchFamily="34" charset="0"/>
                <a:ea typeface="Bitter" pitchFamily="34" charset="-122"/>
                <a:cs typeface="Bitter" pitchFamily="34" charset="-120"/>
              </a:rPr>
              <a:t> in gross sales, Flipkart pockets roughly </a:t>
            </a:r>
            <a:pPr algn="l" indent="0" marL="0">
              <a:lnSpc>
                <a:spcPct val="117000"/>
              </a:lnSpc>
              <a:buNone/>
            </a:pPr>
            <a:r>
              <a:rPr lang="en-US" sz="1200" b="1" dirty="0">
                <a:solidFill>
                  <a:srgbClr val="F2EDFB"/>
                </a:solidFill>
                <a:latin typeface="Bitter Bold" pitchFamily="34" charset="0"/>
                <a:ea typeface="Bitter Bold" pitchFamily="34" charset="-122"/>
                <a:cs typeface="Bitter Bold" pitchFamily="34" charset="-120"/>
              </a:rPr>
              <a:t>23 INR</a:t>
            </a:r>
            <a:pPr algn="l" indent="0" marL="0">
              <a:lnSpc>
                <a:spcPct val="117000"/>
              </a:lnSpc>
              <a:buNone/>
            </a:pPr>
            <a:r>
              <a:rPr lang="en-US" sz="1200" dirty="0">
                <a:solidFill>
                  <a:srgbClr val="F2EDFB"/>
                </a:solidFill>
                <a:latin typeface="Bitter" pitchFamily="34" charset="0"/>
                <a:ea typeface="Bitter" pitchFamily="34" charset="-122"/>
                <a:cs typeface="Bitter" pitchFamily="34" charset="-120"/>
              </a:rPr>
              <a:t> as net operating profit (3.18M of 13.89M INR).</a:t>
            </a:r>
            <a:endParaRPr lang="en-US" sz="1200" dirty="0"/>
          </a:p>
        </p:txBody>
      </p:sp>
      <p:sp>
        <p:nvSpPr>
          <p:cNvPr id="15" name="Text 12"/>
          <p:cNvSpPr/>
          <p:nvPr/>
        </p:nvSpPr>
        <p:spPr>
          <a:xfrm>
            <a:off x="177895" y="6466086"/>
            <a:ext cx="3095151"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Flipkart Sales Dashboard, Explained Simply</a:t>
            </a:r>
            <a:endParaRPr lang="en-US" sz="1000" dirty="0"/>
          </a:p>
        </p:txBody>
      </p:sp>
      <p:sp>
        <p:nvSpPr>
          <p:cNvPr id="16" name="Text 13"/>
          <p:cNvSpPr/>
          <p:nvPr/>
        </p:nvSpPr>
        <p:spPr>
          <a:xfrm>
            <a:off x="11941174" y="6466086"/>
            <a:ext cx="250521"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1063327"/>
            <a:ext cx="1158211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04 — CATEGORY BREAKDOWN</a:t>
            </a:r>
            <a:endParaRPr lang="en-US" sz="1050" dirty="0"/>
          </a:p>
        </p:txBody>
      </p:sp>
      <p:sp>
        <p:nvSpPr>
          <p:cNvPr id="3" name="Text 1"/>
          <p:cNvSpPr/>
          <p:nvPr/>
        </p:nvSpPr>
        <p:spPr>
          <a:xfrm>
            <a:off x="609585" y="1365845"/>
            <a:ext cx="10972526" cy="914400"/>
          </a:xfrm>
          <a:prstGeom prst="rect">
            <a:avLst/>
          </a:prstGeom>
          <a:noFill/>
          <a:ln/>
        </p:spPr>
        <p:txBody>
          <a:bodyPr wrap="square" lIns="0" tIns="0" rIns="0" bIns="0" rtlCol="0" anchor="t">
            <a:normAutofit/>
          </a:bodyPr>
          <a:lstStyle/>
          <a:p>
            <a:pPr algn="l" indent="0" marL="0">
              <a:lnSpc>
                <a:spcPct val="83000"/>
              </a:lnSpc>
              <a:buNone/>
            </a:pPr>
            <a:r>
              <a:rPr lang="en-US" sz="3600" dirty="0">
                <a:solidFill>
                  <a:srgbClr val="F2EDFB"/>
                </a:solidFill>
                <a:latin typeface="Jost" pitchFamily="34" charset="0"/>
                <a:ea typeface="Jost" pitchFamily="34" charset="-122"/>
                <a:cs typeface="Jost" pitchFamily="34" charset="-120"/>
              </a:rPr>
              <a:t>ELECTRONICS EARNS FAR MORE THAN ANY OTHER CATEGORY</a:t>
            </a:r>
            <a:endParaRPr lang="en-US" sz="3600" dirty="0"/>
          </a:p>
        </p:txBody>
      </p:sp>
      <p:pic>
        <p:nvPicPr>
          <p:cNvPr id="4" name="Image 0" descr="preencoded.png">    </p:cNvPr>
          <p:cNvPicPr>
            <a:picLocks noChangeAspect="1"/>
          </p:cNvPicPr>
          <p:nvPr/>
        </p:nvPicPr>
        <p:blipFill>
          <a:blip r:embed="rId1"/>
          <a:stretch>
            <a:fillRect/>
          </a:stretch>
        </p:blipFill>
        <p:spPr>
          <a:xfrm>
            <a:off x="609585" y="2643783"/>
            <a:ext cx="6730832" cy="2922290"/>
          </a:xfrm>
          <a:prstGeom prst="rect">
            <a:avLst/>
          </a:prstGeom>
        </p:spPr>
      </p:pic>
      <p:sp>
        <p:nvSpPr>
          <p:cNvPr id="5" name="Shape 2"/>
          <p:cNvSpPr/>
          <p:nvPr/>
        </p:nvSpPr>
        <p:spPr>
          <a:xfrm>
            <a:off x="7670509" y="2415183"/>
            <a:ext cx="3911601" cy="3379490"/>
          </a:xfrm>
          <a:prstGeom prst="rect">
            <a:avLst/>
          </a:prstGeom>
          <a:solidFill>
            <a:srgbClr val="17102B"/>
          </a:solidFill>
          <a:ln w="6350">
            <a:solidFill>
              <a:srgbClr val="4A3670"/>
            </a:solidFill>
            <a:prstDash val="solid"/>
          </a:ln>
        </p:spPr>
      </p:sp>
      <p:sp>
        <p:nvSpPr>
          <p:cNvPr id="6" name="Text 3"/>
          <p:cNvSpPr/>
          <p:nvPr/>
        </p:nvSpPr>
        <p:spPr>
          <a:xfrm>
            <a:off x="7905453" y="3018234"/>
            <a:ext cx="3676657"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WHY THE GAP IS SO HUGE</a:t>
            </a:r>
            <a:endParaRPr lang="en-US" sz="1050" dirty="0"/>
          </a:p>
        </p:txBody>
      </p:sp>
      <p:sp>
        <p:nvSpPr>
          <p:cNvPr id="7" name="Text 4"/>
          <p:cNvSpPr/>
          <p:nvPr/>
        </p:nvSpPr>
        <p:spPr>
          <a:xfrm>
            <a:off x="7905453" y="3294717"/>
            <a:ext cx="3441713" cy="237430"/>
          </a:xfrm>
          <a:prstGeom prst="rect">
            <a:avLst/>
          </a:prstGeom>
          <a:noFill/>
          <a:ln/>
        </p:spPr>
        <p:txBody>
          <a:bodyPr wrap="none" lIns="0" tIns="0" rIns="0" bIns="0" rtlCol="0" anchor="t"/>
          <a:lstStyle/>
          <a:p>
            <a:pPr algn="l" indent="0" marL="0">
              <a:lnSpc>
                <a:spcPct val="92000"/>
              </a:lnSpc>
              <a:buNone/>
            </a:pPr>
            <a:r>
              <a:rPr lang="en-US" sz="1700" dirty="0">
                <a:solidFill>
                  <a:srgbClr val="FFFFFF"/>
                </a:solidFill>
                <a:latin typeface="Jost" pitchFamily="34" charset="0"/>
                <a:ea typeface="Jost" pitchFamily="34" charset="-122"/>
                <a:cs typeface="Jost" pitchFamily="34" charset="-120"/>
              </a:rPr>
              <a:t>High ticket prices drive volume</a:t>
            </a:r>
            <a:endParaRPr lang="en-US" sz="1700" dirty="0"/>
          </a:p>
        </p:txBody>
      </p:sp>
      <p:sp>
        <p:nvSpPr>
          <p:cNvPr id="8" name="Text 5"/>
          <p:cNvSpPr/>
          <p:nvPr/>
        </p:nvSpPr>
        <p:spPr>
          <a:xfrm>
            <a:off x="7905453" y="3642320"/>
            <a:ext cx="3441713" cy="639961"/>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FFFFFF"/>
                </a:solidFill>
                <a:latin typeface="Bitter" pitchFamily="34" charset="0"/>
                <a:ea typeface="Bitter" pitchFamily="34" charset="-122"/>
                <a:cs typeface="Bitter" pitchFamily="34" charset="-120"/>
              </a:rPr>
              <a:t>Electronics alone easily clears 10M INR, dwarfing Fashion, Home, Beauty, and Books combined.</a:t>
            </a:r>
            <a:endParaRPr lang="en-US" sz="1200" dirty="0"/>
          </a:p>
        </p:txBody>
      </p:sp>
      <p:sp>
        <p:nvSpPr>
          <p:cNvPr id="9" name="Text 6"/>
          <p:cNvSpPr/>
          <p:nvPr/>
        </p:nvSpPr>
        <p:spPr>
          <a:xfrm>
            <a:off x="7905453" y="4409281"/>
            <a:ext cx="3441713" cy="782241"/>
          </a:xfrm>
          <a:prstGeom prst="rect">
            <a:avLst/>
          </a:prstGeom>
          <a:noFill/>
          <a:ln/>
        </p:spPr>
        <p:txBody>
          <a:bodyPr wrap="square" lIns="0" tIns="0" rIns="0" bIns="0" rtlCol="0" anchor="t">
            <a:normAutofit/>
          </a:bodyPr>
          <a:lstStyle/>
          <a:p>
            <a:pPr algn="l" indent="0" marL="0">
              <a:lnSpc>
                <a:spcPct val="117000"/>
              </a:lnSpc>
              <a:buNone/>
            </a:pPr>
            <a:r>
              <a:rPr lang="en-US" sz="1100" b="1" dirty="0">
                <a:solidFill>
                  <a:srgbClr val="FFFFFF"/>
                </a:solidFill>
                <a:latin typeface="Bitter Bold" pitchFamily="34" charset="0"/>
                <a:ea typeface="Bitter Bold" pitchFamily="34" charset="-122"/>
                <a:cs typeface="Bitter Bold" pitchFamily="34" charset="-120"/>
              </a:rPr>
              <a:t>Plain explanation:</a:t>
            </a:r>
            <a:pPr algn="l" indent="0" marL="0">
              <a:lnSpc>
                <a:spcPct val="117000"/>
              </a:lnSpc>
              <a:buNone/>
            </a:pPr>
            <a:r>
              <a:rPr lang="en-US" sz="1100" dirty="0">
                <a:solidFill>
                  <a:srgbClr val="FFFFFF"/>
                </a:solidFill>
                <a:latin typeface="Bitter" pitchFamily="34" charset="0"/>
                <a:ea typeface="Bitter" pitchFamily="34" charset="-122"/>
                <a:cs typeface="Bitter" pitchFamily="34" charset="-120"/>
              </a:rPr>
              <a:t> Laptops, smartphones, and smart TVs cost tens of thousands of rupees each, meaning a handful of checkout clicks out-earn thousands of book orders.</a:t>
            </a:r>
            <a:endParaRPr lang="en-US" sz="1100" dirty="0"/>
          </a:p>
        </p:txBody>
      </p:sp>
      <p:sp>
        <p:nvSpPr>
          <p:cNvPr id="10" name="Text 7"/>
          <p:cNvSpPr/>
          <p:nvPr/>
        </p:nvSpPr>
        <p:spPr>
          <a:xfrm>
            <a:off x="177895" y="6466086"/>
            <a:ext cx="3095151"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Flipkart Sales Dashboard, Explained Simply</a:t>
            </a:r>
            <a:endParaRPr lang="en-US" sz="1000" dirty="0"/>
          </a:p>
        </p:txBody>
      </p:sp>
      <p:sp>
        <p:nvSpPr>
          <p:cNvPr id="11" name="Text 8"/>
          <p:cNvSpPr/>
          <p:nvPr/>
        </p:nvSpPr>
        <p:spPr>
          <a:xfrm>
            <a:off x="11947425" y="6466086"/>
            <a:ext cx="244270"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1260773"/>
            <a:ext cx="1158211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05 — GEOGRAPHIC DISTRIBUTION</a:t>
            </a:r>
            <a:endParaRPr lang="en-US" sz="1050" dirty="0"/>
          </a:p>
        </p:txBody>
      </p:sp>
      <p:sp>
        <p:nvSpPr>
          <p:cNvPr id="3" name="Text 1"/>
          <p:cNvSpPr/>
          <p:nvPr/>
        </p:nvSpPr>
        <p:spPr>
          <a:xfrm>
            <a:off x="609585" y="1563291"/>
            <a:ext cx="10972526" cy="457200"/>
          </a:xfrm>
          <a:prstGeom prst="rect">
            <a:avLst/>
          </a:prstGeom>
          <a:noFill/>
          <a:ln/>
        </p:spPr>
        <p:txBody>
          <a:bodyPr wrap="none" lIns="0" tIns="0" rIns="0" bIns="0" rtlCol="0" anchor="t"/>
          <a:lstStyle/>
          <a:p>
            <a:pPr algn="l" indent="0" marL="0">
              <a:lnSpc>
                <a:spcPct val="83000"/>
              </a:lnSpc>
              <a:buNone/>
            </a:pPr>
            <a:r>
              <a:rPr lang="en-US" sz="3600" dirty="0">
                <a:solidFill>
                  <a:srgbClr val="F2EDFB"/>
                </a:solidFill>
                <a:latin typeface="Jost" pitchFamily="34" charset="0"/>
                <a:ea typeface="Jost" pitchFamily="34" charset="-122"/>
                <a:cs typeface="Jost" pitchFamily="34" charset="-120"/>
              </a:rPr>
              <a:t>THE WEST LEADS, BUT EVERY REGION CONTRIBUTES</a:t>
            </a:r>
            <a:endParaRPr lang="en-US" sz="3600" dirty="0"/>
          </a:p>
        </p:txBody>
      </p:sp>
      <p:pic>
        <p:nvPicPr>
          <p:cNvPr id="4" name="Image 0" descr="preencoded.png">    </p:cNvPr>
          <p:cNvPicPr>
            <a:picLocks noChangeAspect="1"/>
          </p:cNvPicPr>
          <p:nvPr/>
        </p:nvPicPr>
        <p:blipFill>
          <a:blip r:embed="rId1"/>
          <a:stretch>
            <a:fillRect/>
          </a:stretch>
        </p:blipFill>
        <p:spPr>
          <a:xfrm>
            <a:off x="609585" y="2384028"/>
            <a:ext cx="6095848" cy="2984500"/>
          </a:xfrm>
          <a:prstGeom prst="rect">
            <a:avLst/>
          </a:prstGeom>
        </p:spPr>
      </p:pic>
      <p:sp>
        <p:nvSpPr>
          <p:cNvPr id="5" name="Shape 2"/>
          <p:cNvSpPr/>
          <p:nvPr/>
        </p:nvSpPr>
        <p:spPr>
          <a:xfrm>
            <a:off x="7137221" y="2155428"/>
            <a:ext cx="4444889" cy="3441700"/>
          </a:xfrm>
          <a:prstGeom prst="rect">
            <a:avLst/>
          </a:prstGeom>
          <a:solidFill>
            <a:srgbClr val="17102B"/>
          </a:solidFill>
          <a:ln w="6350">
            <a:solidFill>
              <a:srgbClr val="4A3670"/>
            </a:solidFill>
            <a:prstDash val="solid"/>
          </a:ln>
        </p:spPr>
      </p:sp>
      <p:sp>
        <p:nvSpPr>
          <p:cNvPr id="6" name="Text 3"/>
          <p:cNvSpPr/>
          <p:nvPr/>
        </p:nvSpPr>
        <p:spPr>
          <a:xfrm>
            <a:off x="7372166" y="2547739"/>
            <a:ext cx="4209945"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TERRITORY CONTRIBUTION</a:t>
            </a:r>
            <a:endParaRPr lang="en-US" sz="1050" dirty="0"/>
          </a:p>
        </p:txBody>
      </p:sp>
      <p:sp>
        <p:nvSpPr>
          <p:cNvPr id="7" name="Text 4"/>
          <p:cNvSpPr/>
          <p:nvPr/>
        </p:nvSpPr>
        <p:spPr>
          <a:xfrm>
            <a:off x="7372166" y="2824222"/>
            <a:ext cx="3975001" cy="237430"/>
          </a:xfrm>
          <a:prstGeom prst="rect">
            <a:avLst/>
          </a:prstGeom>
          <a:noFill/>
          <a:ln/>
        </p:spPr>
        <p:txBody>
          <a:bodyPr wrap="none" lIns="0" tIns="0" rIns="0" bIns="0" rtlCol="0" anchor="t"/>
          <a:lstStyle/>
          <a:p>
            <a:pPr algn="l" indent="0" marL="0">
              <a:lnSpc>
                <a:spcPct val="92000"/>
              </a:lnSpc>
              <a:buNone/>
            </a:pPr>
            <a:r>
              <a:rPr lang="en-US" sz="1700" dirty="0">
                <a:solidFill>
                  <a:srgbClr val="FFFFFF"/>
                </a:solidFill>
                <a:latin typeface="Jost" pitchFamily="34" charset="0"/>
                <a:ea typeface="Jost" pitchFamily="34" charset="-122"/>
                <a:cs typeface="Jost" pitchFamily="34" charset="-120"/>
              </a:rPr>
              <a:t>A balanced national footprint</a:t>
            </a:r>
            <a:endParaRPr lang="en-US" sz="1700" dirty="0"/>
          </a:p>
        </p:txBody>
      </p:sp>
      <p:sp>
        <p:nvSpPr>
          <p:cNvPr id="8" name="Text 5"/>
          <p:cNvSpPr/>
          <p:nvPr/>
        </p:nvSpPr>
        <p:spPr>
          <a:xfrm>
            <a:off x="7372166" y="3171825"/>
            <a:ext cx="3975001" cy="1128713"/>
          </a:xfrm>
          <a:prstGeom prst="rect">
            <a:avLst/>
          </a:prstGeom>
          <a:noFill/>
          <a:ln/>
        </p:spPr>
        <p:txBody>
          <a:bodyPr wrap="square" lIns="0" tIns="0" rIns="0" bIns="0" rtlCol="0" anchor="t">
            <a:normAutofit/>
          </a:bodyPr>
          <a:lstStyle/>
          <a:p>
            <a:pPr algn="l" marL="284480" indent="-284480">
              <a:lnSpc>
                <a:spcPct val="117000"/>
              </a:lnSpc>
              <a:buSzPct val="100000"/>
              <a:buChar char="•"/>
            </a:pPr>
            <a:r>
              <a:rPr lang="en-US" sz="1400" b="1" dirty="0">
                <a:solidFill>
                  <a:srgbClr val="FFFFFF"/>
                </a:solidFill>
                <a:latin typeface="Bitter Bold" pitchFamily="34" charset="0"/>
                <a:ea typeface="Bitter Bold" pitchFamily="34" charset="-122"/>
                <a:cs typeface="Bitter Bold" pitchFamily="34" charset="-120"/>
              </a:rPr>
              <a:t>West:</a:t>
            </a:r>
            <a:pPr algn="l" marL="284480" indent="-284480">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 4.10M INR (29.5%)</a:t>
            </a:r>
            <a:endParaRPr lang="en-US" sz="1400" dirty="0"/>
          </a:p>
          <a:p>
            <a:pPr algn="l" marL="284480" indent="-284480">
              <a:lnSpc>
                <a:spcPct val="117000"/>
              </a:lnSpc>
              <a:buSzPct val="100000"/>
              <a:buChar char="•"/>
            </a:pPr>
            <a:r>
              <a:rPr lang="en-US" sz="1400" b="1" dirty="0">
                <a:solidFill>
                  <a:srgbClr val="FFFFFF"/>
                </a:solidFill>
                <a:latin typeface="Bitter Bold" pitchFamily="34" charset="0"/>
                <a:ea typeface="Bitter Bold" pitchFamily="34" charset="-122"/>
                <a:cs typeface="Bitter Bold" pitchFamily="34" charset="-120"/>
              </a:rPr>
              <a:t>East:</a:t>
            </a:r>
            <a:pPr algn="l" marL="284480" indent="-284480">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 3.69M INR (26.6%)</a:t>
            </a:r>
            <a:endParaRPr lang="en-US" sz="1400" dirty="0"/>
          </a:p>
          <a:p>
            <a:pPr algn="l" marL="284480" indent="-284480">
              <a:lnSpc>
                <a:spcPct val="117000"/>
              </a:lnSpc>
              <a:buSzPct val="100000"/>
              <a:buChar char="•"/>
            </a:pPr>
            <a:r>
              <a:rPr lang="en-US" sz="1400" b="1" dirty="0">
                <a:solidFill>
                  <a:srgbClr val="FFFFFF"/>
                </a:solidFill>
                <a:latin typeface="Bitter Bold" pitchFamily="34" charset="0"/>
                <a:ea typeface="Bitter Bold" pitchFamily="34" charset="-122"/>
                <a:cs typeface="Bitter Bold" pitchFamily="34" charset="-120"/>
              </a:rPr>
              <a:t>North:</a:t>
            </a:r>
            <a:pPr algn="l" marL="284480" indent="-284480">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 3.26M INR (23.5%)</a:t>
            </a:r>
            <a:endParaRPr lang="en-US" sz="1400" dirty="0"/>
          </a:p>
          <a:p>
            <a:pPr algn="l" marL="284480" indent="-284480">
              <a:lnSpc>
                <a:spcPct val="117000"/>
              </a:lnSpc>
              <a:buSzPct val="100000"/>
              <a:buChar char="•"/>
            </a:pPr>
            <a:r>
              <a:rPr lang="en-US" sz="1400" b="1" dirty="0">
                <a:solidFill>
                  <a:srgbClr val="FFFFFF"/>
                </a:solidFill>
                <a:latin typeface="Bitter Bold" pitchFamily="34" charset="0"/>
                <a:ea typeface="Bitter Bold" pitchFamily="34" charset="-122"/>
                <a:cs typeface="Bitter Bold" pitchFamily="34" charset="-120"/>
              </a:rPr>
              <a:t>South:</a:t>
            </a:r>
            <a:pPr algn="l" marL="284480" indent="-284480">
              <a:lnSpc>
                <a:spcPct val="117000"/>
              </a:lnSpc>
              <a:buSzPct val="100000"/>
              <a:buChar char="•"/>
            </a:pPr>
            <a:r>
              <a:rPr lang="en-US" sz="1400" dirty="0">
                <a:solidFill>
                  <a:srgbClr val="FFFFFF"/>
                </a:solidFill>
                <a:latin typeface="Bitter" pitchFamily="34" charset="0"/>
                <a:ea typeface="Bitter" pitchFamily="34" charset="-122"/>
                <a:cs typeface="Bitter" pitchFamily="34" charset="-120"/>
              </a:rPr>
              <a:t> 2.84M INR (20.5%)</a:t>
            </a:r>
            <a:endParaRPr lang="en-US" sz="1400" dirty="0"/>
          </a:p>
        </p:txBody>
      </p:sp>
      <p:sp>
        <p:nvSpPr>
          <p:cNvPr id="9" name="Shape 6"/>
          <p:cNvSpPr/>
          <p:nvPr/>
        </p:nvSpPr>
        <p:spPr>
          <a:xfrm>
            <a:off x="7372166" y="4449762"/>
            <a:ext cx="3974901" cy="19050"/>
          </a:xfrm>
          <a:prstGeom prst="roundRect">
            <a:avLst>
              <a:gd name="adj" fmla="val 49999"/>
            </a:avLst>
          </a:prstGeom>
          <a:solidFill>
            <a:srgbClr val="4A3670"/>
          </a:solidFill>
          <a:ln/>
        </p:spPr>
      </p:sp>
      <p:sp>
        <p:nvSpPr>
          <p:cNvPr id="10" name="Text 7"/>
          <p:cNvSpPr/>
          <p:nvPr/>
        </p:nvSpPr>
        <p:spPr>
          <a:xfrm>
            <a:off x="7372166" y="4618038"/>
            <a:ext cx="3975001" cy="586680"/>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FFFFFF"/>
                </a:solidFill>
                <a:latin typeface="Bitter" pitchFamily="34" charset="0"/>
                <a:ea typeface="Bitter" pitchFamily="34" charset="-122"/>
                <a:cs typeface="Bitter" pitchFamily="34" charset="-120"/>
              </a:rPr>
              <a:t>No region falls below one-fifth (20%) of overall sales. The commercial base is soundly diversified rather than overly reliant on one territory.</a:t>
            </a:r>
            <a:endParaRPr lang="en-US" sz="1100" dirty="0"/>
          </a:p>
        </p:txBody>
      </p:sp>
      <p:sp>
        <p:nvSpPr>
          <p:cNvPr id="11" name="Text 8"/>
          <p:cNvSpPr/>
          <p:nvPr/>
        </p:nvSpPr>
        <p:spPr>
          <a:xfrm>
            <a:off x="177895" y="6466086"/>
            <a:ext cx="3095151"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Flipkart Sales Dashboard, Explained Simply</a:t>
            </a:r>
            <a:endParaRPr lang="en-US" sz="1000" dirty="0"/>
          </a:p>
        </p:txBody>
      </p:sp>
      <p:sp>
        <p:nvSpPr>
          <p:cNvPr id="12" name="Text 9"/>
          <p:cNvSpPr/>
          <p:nvPr/>
        </p:nvSpPr>
        <p:spPr>
          <a:xfrm>
            <a:off x="11940777" y="6466086"/>
            <a:ext cx="250918"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1120477"/>
            <a:ext cx="1158211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06 — METRO RATINGS</a:t>
            </a:r>
            <a:endParaRPr lang="en-US" sz="1050" dirty="0"/>
          </a:p>
        </p:txBody>
      </p:sp>
      <p:sp>
        <p:nvSpPr>
          <p:cNvPr id="3" name="Text 1"/>
          <p:cNvSpPr/>
          <p:nvPr/>
        </p:nvSpPr>
        <p:spPr>
          <a:xfrm>
            <a:off x="609585" y="1424583"/>
            <a:ext cx="10972526" cy="863600"/>
          </a:xfrm>
          <a:prstGeom prst="rect">
            <a:avLst/>
          </a:prstGeom>
          <a:noFill/>
          <a:ln/>
        </p:spPr>
        <p:txBody>
          <a:bodyPr wrap="square" lIns="0" tIns="0" rIns="0" bIns="0" rtlCol="0" anchor="t">
            <a:normAutofit/>
          </a:bodyPr>
          <a:lstStyle/>
          <a:p>
            <a:pPr algn="l" indent="0" marL="0">
              <a:lnSpc>
                <a:spcPct val="83000"/>
              </a:lnSpc>
              <a:buNone/>
            </a:pPr>
            <a:r>
              <a:rPr lang="en-US" sz="3400" dirty="0">
                <a:solidFill>
                  <a:srgbClr val="F2EDFB"/>
                </a:solidFill>
                <a:latin typeface="Jost" pitchFamily="34" charset="0"/>
                <a:ea typeface="Jost" pitchFamily="34" charset="-122"/>
                <a:cs typeface="Jost" pitchFamily="34" charset="-120"/>
              </a:rPr>
              <a:t>CUSTOMER RATINGS BY CITY ARE CLOSE, WITH CHANDIGARH ON TOP</a:t>
            </a:r>
            <a:endParaRPr lang="en-US" sz="3400" dirty="0"/>
          </a:p>
        </p:txBody>
      </p:sp>
      <p:pic>
        <p:nvPicPr>
          <p:cNvPr id="4" name="Image 0" descr="preencoded.png">    </p:cNvPr>
          <p:cNvPicPr>
            <a:picLocks noChangeAspect="1"/>
          </p:cNvPicPr>
          <p:nvPr/>
        </p:nvPicPr>
        <p:blipFill>
          <a:blip r:embed="rId1"/>
          <a:stretch>
            <a:fillRect/>
          </a:stretch>
        </p:blipFill>
        <p:spPr>
          <a:xfrm>
            <a:off x="609585" y="2650133"/>
            <a:ext cx="6730832" cy="2858790"/>
          </a:xfrm>
          <a:prstGeom prst="rect">
            <a:avLst/>
          </a:prstGeom>
        </p:spPr>
      </p:pic>
      <p:sp>
        <p:nvSpPr>
          <p:cNvPr id="5" name="Shape 2"/>
          <p:cNvSpPr/>
          <p:nvPr/>
        </p:nvSpPr>
        <p:spPr>
          <a:xfrm>
            <a:off x="7670509" y="2421533"/>
            <a:ext cx="3911601" cy="3315990"/>
          </a:xfrm>
          <a:prstGeom prst="rect">
            <a:avLst/>
          </a:prstGeom>
          <a:solidFill>
            <a:srgbClr val="17102B"/>
          </a:solidFill>
          <a:ln w="6350">
            <a:solidFill>
              <a:srgbClr val="4A3670"/>
            </a:solidFill>
            <a:prstDash val="solid"/>
          </a:ln>
        </p:spPr>
      </p:sp>
      <p:sp>
        <p:nvSpPr>
          <p:cNvPr id="6" name="Text 3"/>
          <p:cNvSpPr/>
          <p:nvPr/>
        </p:nvSpPr>
        <p:spPr>
          <a:xfrm>
            <a:off x="7905453" y="3110607"/>
            <a:ext cx="3676657"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ANALYST CAUTION</a:t>
            </a:r>
            <a:endParaRPr lang="en-US" sz="1050" dirty="0"/>
          </a:p>
        </p:txBody>
      </p:sp>
      <p:sp>
        <p:nvSpPr>
          <p:cNvPr id="7" name="Text 4"/>
          <p:cNvSpPr/>
          <p:nvPr/>
        </p:nvSpPr>
        <p:spPr>
          <a:xfrm>
            <a:off x="7905453" y="3387090"/>
            <a:ext cx="3441713" cy="237430"/>
          </a:xfrm>
          <a:prstGeom prst="rect">
            <a:avLst/>
          </a:prstGeom>
          <a:noFill/>
          <a:ln/>
        </p:spPr>
        <p:txBody>
          <a:bodyPr wrap="none" lIns="0" tIns="0" rIns="0" bIns="0" rtlCol="0" anchor="t"/>
          <a:lstStyle/>
          <a:p>
            <a:pPr algn="l" indent="0" marL="0">
              <a:lnSpc>
                <a:spcPct val="92000"/>
              </a:lnSpc>
              <a:buNone/>
            </a:pPr>
            <a:r>
              <a:rPr lang="en-US" sz="1700" dirty="0">
                <a:solidFill>
                  <a:srgbClr val="FFFFFF"/>
                </a:solidFill>
                <a:latin typeface="Jost" pitchFamily="34" charset="0"/>
                <a:ea typeface="Jost" pitchFamily="34" charset="-122"/>
                <a:cs typeface="Jost" pitchFamily="34" charset="-120"/>
              </a:rPr>
              <a:t>Sum vs. Average trap</a:t>
            </a:r>
            <a:endParaRPr lang="en-US" sz="1700" dirty="0"/>
          </a:p>
        </p:txBody>
      </p:sp>
      <p:sp>
        <p:nvSpPr>
          <p:cNvPr id="8" name="Text 5"/>
          <p:cNvSpPr/>
          <p:nvPr/>
        </p:nvSpPr>
        <p:spPr>
          <a:xfrm>
            <a:off x="7905453" y="3734693"/>
            <a:ext cx="3441713" cy="426641"/>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FFFFFF"/>
                </a:solidFill>
                <a:latin typeface="Bitter" pitchFamily="34" charset="0"/>
                <a:ea typeface="Bitter" pitchFamily="34" charset="-122"/>
                <a:cs typeface="Bitter" pitchFamily="34" charset="-120"/>
              </a:rPr>
              <a:t>Chandigarh, Pune, and Lucknow hold top spots, while Ahmedabad sits at the bottom.</a:t>
            </a:r>
            <a:endParaRPr lang="en-US" sz="1200" dirty="0"/>
          </a:p>
        </p:txBody>
      </p:sp>
      <p:sp>
        <p:nvSpPr>
          <p:cNvPr id="9" name="Text 6"/>
          <p:cNvSpPr/>
          <p:nvPr/>
        </p:nvSpPr>
        <p:spPr>
          <a:xfrm>
            <a:off x="7905453" y="4266109"/>
            <a:ext cx="3441713" cy="782241"/>
          </a:xfrm>
          <a:prstGeom prst="rect">
            <a:avLst/>
          </a:prstGeom>
          <a:noFill/>
          <a:ln/>
        </p:spPr>
        <p:txBody>
          <a:bodyPr wrap="square" lIns="0" tIns="0" rIns="0" bIns="0" rtlCol="0" anchor="t">
            <a:normAutofit/>
          </a:bodyPr>
          <a:lstStyle/>
          <a:p>
            <a:pPr algn="l" indent="0" marL="0">
              <a:lnSpc>
                <a:spcPct val="117000"/>
              </a:lnSpc>
              <a:buNone/>
            </a:pPr>
            <a:r>
              <a:rPr lang="en-US" sz="1100" b="1" dirty="0">
                <a:solidFill>
                  <a:srgbClr val="FFFFFF"/>
                </a:solidFill>
                <a:latin typeface="Bitter Bold" pitchFamily="34" charset="0"/>
                <a:ea typeface="Bitter Bold" pitchFamily="34" charset="-122"/>
                <a:cs typeface="Bitter Bold" pitchFamily="34" charset="-120"/>
              </a:rPr>
              <a:t>Important data nuance:</a:t>
            </a:r>
            <a:pPr algn="l" indent="0" marL="0">
              <a:lnSpc>
                <a:spcPct val="117000"/>
              </a:lnSpc>
              <a:buNone/>
            </a:pPr>
            <a:r>
              <a:rPr lang="en-US" sz="1100" dirty="0">
                <a:solidFill>
                  <a:srgbClr val="FFFFFF"/>
                </a:solidFill>
                <a:latin typeface="Bitter" pitchFamily="34" charset="0"/>
                <a:ea typeface="Bitter" pitchFamily="34" charset="-122"/>
                <a:cs typeface="Bitter" pitchFamily="34" charset="-120"/>
              </a:rPr>
              <a:t> The chart tallies </a:t>
            </a:r>
            <a:pPr algn="l" indent="0" marL="0">
              <a:lnSpc>
                <a:spcPct val="117000"/>
              </a:lnSpc>
              <a:buNone/>
            </a:pPr>
            <a:r>
              <a:rPr lang="en-US" sz="1100" i="1" dirty="0">
                <a:solidFill>
                  <a:srgbClr val="FFFFFF"/>
                </a:solidFill>
                <a:latin typeface="Bitter" pitchFamily="34" charset="0"/>
                <a:ea typeface="Bitter" pitchFamily="34" charset="-122"/>
                <a:cs typeface="Bitter" pitchFamily="34" charset="-120"/>
              </a:rPr>
              <a:t>total rating points</a:t>
            </a:r>
            <a:pPr algn="l" indent="0" marL="0">
              <a:lnSpc>
                <a:spcPct val="117000"/>
              </a:lnSpc>
              <a:buNone/>
            </a:pPr>
            <a:r>
              <a:rPr lang="en-US" sz="1100" dirty="0">
                <a:solidFill>
                  <a:srgbClr val="FFFFFF"/>
                </a:solidFill>
                <a:latin typeface="Bitter" pitchFamily="34" charset="0"/>
                <a:ea typeface="Bitter" pitchFamily="34" charset="-122"/>
                <a:cs typeface="Bitter" pitchFamily="34" charset="-120"/>
              </a:rPr>
              <a:t>, not customer averages. High-order cities automatically get bigger bars. A true per-order average would offer a fairer quality check.</a:t>
            </a:r>
            <a:endParaRPr lang="en-US" sz="1100" dirty="0"/>
          </a:p>
        </p:txBody>
      </p:sp>
      <p:sp>
        <p:nvSpPr>
          <p:cNvPr id="10" name="Text 7"/>
          <p:cNvSpPr/>
          <p:nvPr/>
        </p:nvSpPr>
        <p:spPr>
          <a:xfrm>
            <a:off x="177895" y="6466086"/>
            <a:ext cx="3095151"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Flipkart Sales Dashboard, Explained Simply</a:t>
            </a:r>
            <a:endParaRPr lang="en-US" sz="1000" dirty="0"/>
          </a:p>
        </p:txBody>
      </p:sp>
      <p:sp>
        <p:nvSpPr>
          <p:cNvPr id="11" name="Text 8"/>
          <p:cNvSpPr/>
          <p:nvPr/>
        </p:nvSpPr>
        <p:spPr>
          <a:xfrm>
            <a:off x="11951393" y="6466086"/>
            <a:ext cx="240302"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1152227"/>
            <a:ext cx="1158211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07 — CHANNEL RATINGS</a:t>
            </a:r>
            <a:endParaRPr lang="en-US" sz="1050" dirty="0"/>
          </a:p>
        </p:txBody>
      </p:sp>
      <p:sp>
        <p:nvSpPr>
          <p:cNvPr id="3" name="Text 1"/>
          <p:cNvSpPr/>
          <p:nvPr/>
        </p:nvSpPr>
        <p:spPr>
          <a:xfrm>
            <a:off x="609585" y="1456333"/>
            <a:ext cx="10972526" cy="863600"/>
          </a:xfrm>
          <a:prstGeom prst="rect">
            <a:avLst/>
          </a:prstGeom>
          <a:noFill/>
          <a:ln/>
        </p:spPr>
        <p:txBody>
          <a:bodyPr wrap="square" lIns="0" tIns="0" rIns="0" bIns="0" rtlCol="0" anchor="t">
            <a:normAutofit/>
          </a:bodyPr>
          <a:lstStyle/>
          <a:p>
            <a:pPr algn="l" indent="0" marL="0">
              <a:lnSpc>
                <a:spcPct val="83000"/>
              </a:lnSpc>
              <a:buNone/>
            </a:pPr>
            <a:r>
              <a:rPr lang="en-US" sz="3400" dirty="0">
                <a:solidFill>
                  <a:srgbClr val="F2EDFB"/>
                </a:solidFill>
                <a:latin typeface="Jost" pitchFamily="34" charset="0"/>
                <a:ea typeface="Jost" pitchFamily="34" charset="-122"/>
                <a:cs typeface="Jost" pitchFamily="34" charset="-120"/>
              </a:rPr>
              <a:t>ONLINE, RETAIL AND WHOLESALE RATE US ABOUT THE SAME</a:t>
            </a:r>
            <a:endParaRPr lang="en-US" sz="3400" dirty="0"/>
          </a:p>
        </p:txBody>
      </p:sp>
      <p:pic>
        <p:nvPicPr>
          <p:cNvPr id="4" name="Image 0" descr="preencoded.png">    </p:cNvPr>
          <p:cNvPicPr>
            <a:picLocks noChangeAspect="1"/>
          </p:cNvPicPr>
          <p:nvPr/>
        </p:nvPicPr>
        <p:blipFill>
          <a:blip r:embed="rId1"/>
          <a:stretch>
            <a:fillRect/>
          </a:stretch>
        </p:blipFill>
        <p:spPr>
          <a:xfrm>
            <a:off x="609585" y="2681883"/>
            <a:ext cx="6730832" cy="2795290"/>
          </a:xfrm>
          <a:prstGeom prst="rect">
            <a:avLst/>
          </a:prstGeom>
        </p:spPr>
      </p:pic>
      <p:sp>
        <p:nvSpPr>
          <p:cNvPr id="5" name="Shape 2"/>
          <p:cNvSpPr/>
          <p:nvPr/>
        </p:nvSpPr>
        <p:spPr>
          <a:xfrm>
            <a:off x="7670509" y="2453283"/>
            <a:ext cx="3911601" cy="3252490"/>
          </a:xfrm>
          <a:prstGeom prst="rect">
            <a:avLst/>
          </a:prstGeom>
          <a:solidFill>
            <a:srgbClr val="17102B"/>
          </a:solidFill>
          <a:ln w="6350">
            <a:solidFill>
              <a:srgbClr val="4A3670"/>
            </a:solidFill>
            <a:prstDash val="solid"/>
          </a:ln>
        </p:spPr>
      </p:sp>
      <p:sp>
        <p:nvSpPr>
          <p:cNvPr id="6" name="Text 3"/>
          <p:cNvSpPr/>
          <p:nvPr/>
        </p:nvSpPr>
        <p:spPr>
          <a:xfrm>
            <a:off x="7905453" y="2995414"/>
            <a:ext cx="3676657"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UNIFORM SATISFACTION</a:t>
            </a:r>
            <a:endParaRPr lang="en-US" sz="1050" dirty="0"/>
          </a:p>
        </p:txBody>
      </p:sp>
      <p:sp>
        <p:nvSpPr>
          <p:cNvPr id="7" name="Text 4"/>
          <p:cNvSpPr/>
          <p:nvPr/>
        </p:nvSpPr>
        <p:spPr>
          <a:xfrm>
            <a:off x="7905453" y="3271897"/>
            <a:ext cx="3441713" cy="237430"/>
          </a:xfrm>
          <a:prstGeom prst="rect">
            <a:avLst/>
          </a:prstGeom>
          <a:noFill/>
          <a:ln/>
        </p:spPr>
        <p:txBody>
          <a:bodyPr wrap="none" lIns="0" tIns="0" rIns="0" bIns="0" rtlCol="0" anchor="t"/>
          <a:lstStyle/>
          <a:p>
            <a:pPr algn="l" indent="0" marL="0">
              <a:lnSpc>
                <a:spcPct val="92000"/>
              </a:lnSpc>
              <a:buNone/>
            </a:pPr>
            <a:r>
              <a:rPr lang="en-US" sz="1700" dirty="0">
                <a:solidFill>
                  <a:srgbClr val="FFFFFF"/>
                </a:solidFill>
                <a:latin typeface="Jost" pitchFamily="34" charset="0"/>
                <a:ea typeface="Jost" pitchFamily="34" charset="-122"/>
                <a:cs typeface="Jost" pitchFamily="34" charset="-120"/>
              </a:rPr>
              <a:t>Consistent channel experience</a:t>
            </a:r>
            <a:endParaRPr lang="en-US" sz="1700" dirty="0"/>
          </a:p>
        </p:txBody>
      </p:sp>
      <p:sp>
        <p:nvSpPr>
          <p:cNvPr id="8" name="Text 5"/>
          <p:cNvSpPr/>
          <p:nvPr/>
        </p:nvSpPr>
        <p:spPr>
          <a:xfrm>
            <a:off x="7905453" y="3619500"/>
            <a:ext cx="3441713" cy="639961"/>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FFFFFF"/>
                </a:solidFill>
                <a:latin typeface="Bitter" pitchFamily="34" charset="0"/>
                <a:ea typeface="Bitter" pitchFamily="34" charset="-122"/>
                <a:cs typeface="Bitter" pitchFamily="34" charset="-120"/>
              </a:rPr>
              <a:t>Across all three segments, the stacked rating blocks remain nearly equal in length and proportion.</a:t>
            </a:r>
            <a:endParaRPr lang="en-US" sz="1200" dirty="0"/>
          </a:p>
        </p:txBody>
      </p:sp>
      <p:sp>
        <p:nvSpPr>
          <p:cNvPr id="9" name="Shape 6"/>
          <p:cNvSpPr/>
          <p:nvPr/>
        </p:nvSpPr>
        <p:spPr>
          <a:xfrm>
            <a:off x="7905453" y="4408686"/>
            <a:ext cx="3441713" cy="19050"/>
          </a:xfrm>
          <a:prstGeom prst="roundRect">
            <a:avLst>
              <a:gd name="adj" fmla="val 49999"/>
            </a:avLst>
          </a:prstGeom>
          <a:solidFill>
            <a:srgbClr val="4A3670"/>
          </a:solidFill>
          <a:ln/>
        </p:spPr>
      </p:sp>
      <p:sp>
        <p:nvSpPr>
          <p:cNvPr id="10" name="Text 7"/>
          <p:cNvSpPr/>
          <p:nvPr/>
        </p:nvSpPr>
        <p:spPr>
          <a:xfrm>
            <a:off x="7905453" y="4576961"/>
            <a:ext cx="3441713" cy="586680"/>
          </a:xfrm>
          <a:prstGeom prst="rect">
            <a:avLst/>
          </a:prstGeom>
          <a:noFill/>
          <a:ln/>
        </p:spPr>
        <p:txBody>
          <a:bodyPr wrap="square" lIns="0" tIns="0" rIns="0" bIns="0" rtlCol="0" anchor="t">
            <a:normAutofit/>
          </a:bodyPr>
          <a:lstStyle/>
          <a:p>
            <a:pPr algn="l" indent="0" marL="0">
              <a:lnSpc>
                <a:spcPct val="117000"/>
              </a:lnSpc>
              <a:buNone/>
            </a:pPr>
            <a:r>
              <a:rPr lang="en-US" sz="1100" dirty="0">
                <a:solidFill>
                  <a:srgbClr val="FFFFFF"/>
                </a:solidFill>
                <a:latin typeface="Bitter" pitchFamily="34" charset="0"/>
                <a:ea typeface="Bitter" pitchFamily="34" charset="-122"/>
                <a:cs typeface="Bitter" pitchFamily="34" charset="-120"/>
              </a:rPr>
              <a:t>Whether a customer orders via the mobile app, walks into an omnichannel partner outlet, or procures in bulk, customer happiness stays consistent.</a:t>
            </a:r>
            <a:endParaRPr lang="en-US" sz="1100" dirty="0"/>
          </a:p>
        </p:txBody>
      </p:sp>
      <p:sp>
        <p:nvSpPr>
          <p:cNvPr id="11" name="Text 8"/>
          <p:cNvSpPr/>
          <p:nvPr/>
        </p:nvSpPr>
        <p:spPr>
          <a:xfrm>
            <a:off x="177895" y="6466086"/>
            <a:ext cx="3095151"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Flipkart Sales Dashboard, Explained Simply</a:t>
            </a:r>
            <a:endParaRPr lang="en-US" sz="1000" dirty="0"/>
          </a:p>
        </p:txBody>
      </p:sp>
      <p:sp>
        <p:nvSpPr>
          <p:cNvPr id="12" name="Text 9"/>
          <p:cNvSpPr/>
          <p:nvPr/>
        </p:nvSpPr>
        <p:spPr>
          <a:xfrm>
            <a:off x="11939090" y="6466086"/>
            <a:ext cx="252605"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1145877"/>
            <a:ext cx="1158211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08 — PROMOTION STRATEGY</a:t>
            </a:r>
            <a:endParaRPr lang="en-US" sz="1050" dirty="0"/>
          </a:p>
        </p:txBody>
      </p:sp>
      <p:sp>
        <p:nvSpPr>
          <p:cNvPr id="3" name="Text 1"/>
          <p:cNvSpPr/>
          <p:nvPr/>
        </p:nvSpPr>
        <p:spPr>
          <a:xfrm>
            <a:off x="609585" y="1446808"/>
            <a:ext cx="10972526" cy="812800"/>
          </a:xfrm>
          <a:prstGeom prst="rect">
            <a:avLst/>
          </a:prstGeom>
          <a:noFill/>
          <a:ln/>
        </p:spPr>
        <p:txBody>
          <a:bodyPr wrap="square" lIns="0" tIns="0" rIns="0" bIns="0" rtlCol="0" anchor="t">
            <a:normAutofit/>
          </a:bodyPr>
          <a:lstStyle/>
          <a:p>
            <a:pPr algn="l" indent="0" marL="0">
              <a:lnSpc>
                <a:spcPct val="83000"/>
              </a:lnSpc>
              <a:buNone/>
            </a:pPr>
            <a:r>
              <a:rPr lang="en-US" sz="3200" dirty="0">
                <a:solidFill>
                  <a:srgbClr val="F2EDFB"/>
                </a:solidFill>
                <a:latin typeface="Jost" pitchFamily="34" charset="0"/>
                <a:ea typeface="Jost" pitchFamily="34" charset="-122"/>
                <a:cs typeface="Jost" pitchFamily="34" charset="-120"/>
              </a:rPr>
              <a:t>DISCOUNTS ARE HIGHEST FOR BEAUTY AND BOOKS, LOWEST FOR HOME &amp; KITCHEN</a:t>
            </a:r>
            <a:endParaRPr lang="en-US" sz="3200" dirty="0"/>
          </a:p>
        </p:txBody>
      </p:sp>
      <p:pic>
        <p:nvPicPr>
          <p:cNvPr id="4" name="Image 0" descr="preencoded.png">    </p:cNvPr>
          <p:cNvPicPr>
            <a:picLocks noChangeAspect="1"/>
          </p:cNvPicPr>
          <p:nvPr/>
        </p:nvPicPr>
        <p:blipFill>
          <a:blip r:embed="rId1"/>
          <a:stretch>
            <a:fillRect/>
          </a:stretch>
        </p:blipFill>
        <p:spPr>
          <a:xfrm>
            <a:off x="609585" y="2624733"/>
            <a:ext cx="6730832" cy="2858790"/>
          </a:xfrm>
          <a:prstGeom prst="rect">
            <a:avLst/>
          </a:prstGeom>
        </p:spPr>
      </p:pic>
      <p:sp>
        <p:nvSpPr>
          <p:cNvPr id="5" name="Shape 2"/>
          <p:cNvSpPr/>
          <p:nvPr/>
        </p:nvSpPr>
        <p:spPr>
          <a:xfrm>
            <a:off x="7670509" y="2396133"/>
            <a:ext cx="3911601" cy="3315990"/>
          </a:xfrm>
          <a:prstGeom prst="rect">
            <a:avLst/>
          </a:prstGeom>
          <a:solidFill>
            <a:srgbClr val="17102B"/>
          </a:solidFill>
          <a:ln w="6350">
            <a:solidFill>
              <a:srgbClr val="4A3670"/>
            </a:solidFill>
            <a:prstDash val="solid"/>
          </a:ln>
        </p:spPr>
      </p:sp>
      <p:sp>
        <p:nvSpPr>
          <p:cNvPr id="6" name="Text 3"/>
          <p:cNvSpPr/>
          <p:nvPr/>
        </p:nvSpPr>
        <p:spPr>
          <a:xfrm>
            <a:off x="7905453" y="3074095"/>
            <a:ext cx="3676657"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HOW TO READ THIS LINE</a:t>
            </a:r>
            <a:endParaRPr lang="en-US" sz="1050" dirty="0"/>
          </a:p>
        </p:txBody>
      </p:sp>
      <p:sp>
        <p:nvSpPr>
          <p:cNvPr id="7" name="Text 4"/>
          <p:cNvSpPr/>
          <p:nvPr/>
        </p:nvSpPr>
        <p:spPr>
          <a:xfrm>
            <a:off x="7905453" y="3350578"/>
            <a:ext cx="3441713" cy="237430"/>
          </a:xfrm>
          <a:prstGeom prst="rect">
            <a:avLst/>
          </a:prstGeom>
          <a:noFill/>
          <a:ln/>
        </p:spPr>
        <p:txBody>
          <a:bodyPr wrap="none" lIns="0" tIns="0" rIns="0" bIns="0" rtlCol="0" anchor="t"/>
          <a:lstStyle/>
          <a:p>
            <a:pPr algn="l" indent="0" marL="0">
              <a:lnSpc>
                <a:spcPct val="92000"/>
              </a:lnSpc>
              <a:buNone/>
            </a:pPr>
            <a:r>
              <a:rPr lang="en-US" sz="1700" dirty="0">
                <a:solidFill>
                  <a:srgbClr val="FFFFFF"/>
                </a:solidFill>
                <a:latin typeface="Jost" pitchFamily="34" charset="0"/>
                <a:ea typeface="Jost" pitchFamily="34" charset="-122"/>
                <a:cs typeface="Jost" pitchFamily="34" charset="-120"/>
              </a:rPr>
              <a:t>Side-by-side comparison</a:t>
            </a:r>
            <a:endParaRPr lang="en-US" sz="1700" dirty="0"/>
          </a:p>
        </p:txBody>
      </p:sp>
      <p:sp>
        <p:nvSpPr>
          <p:cNvPr id="8" name="Text 5"/>
          <p:cNvSpPr/>
          <p:nvPr/>
        </p:nvSpPr>
        <p:spPr>
          <a:xfrm>
            <a:off x="7905453" y="3698180"/>
            <a:ext cx="3441713" cy="426641"/>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FFFFFF"/>
                </a:solidFill>
                <a:latin typeface="Bitter" pitchFamily="34" charset="0"/>
                <a:ea typeface="Bitter" pitchFamily="34" charset="-122"/>
                <a:cs typeface="Bitter" pitchFamily="34" charset="-120"/>
              </a:rPr>
              <a:t>The slope drops from 3,150 in Beauty down to 2,750 in Home &amp; Kitchen.</a:t>
            </a:r>
            <a:endParaRPr lang="en-US" sz="1200" dirty="0"/>
          </a:p>
        </p:txBody>
      </p:sp>
      <p:sp>
        <p:nvSpPr>
          <p:cNvPr id="9" name="Text 6"/>
          <p:cNvSpPr/>
          <p:nvPr/>
        </p:nvSpPr>
        <p:spPr>
          <a:xfrm>
            <a:off x="7905453" y="4251821"/>
            <a:ext cx="3441713" cy="782241"/>
          </a:xfrm>
          <a:prstGeom prst="rect">
            <a:avLst/>
          </a:prstGeom>
          <a:noFill/>
          <a:ln/>
        </p:spPr>
        <p:txBody>
          <a:bodyPr wrap="square" lIns="0" tIns="0" rIns="0" bIns="0" rtlCol="0" anchor="t">
            <a:normAutofit/>
          </a:bodyPr>
          <a:lstStyle/>
          <a:p>
            <a:pPr algn="l" indent="0" marL="0">
              <a:lnSpc>
                <a:spcPct val="117000"/>
              </a:lnSpc>
              <a:buNone/>
            </a:pPr>
            <a:r>
              <a:rPr lang="en-US" sz="1100" b="1" dirty="0">
                <a:solidFill>
                  <a:srgbClr val="FFFFFF"/>
                </a:solidFill>
                <a:latin typeface="Bitter Bold" pitchFamily="34" charset="0"/>
                <a:ea typeface="Bitter Bold" pitchFamily="34" charset="-122"/>
                <a:cs typeface="Bitter Bold" pitchFamily="34" charset="-120"/>
              </a:rPr>
              <a:t>Reading tip:</a:t>
            </a:r>
            <a:pPr algn="l" indent="0" marL="0">
              <a:lnSpc>
                <a:spcPct val="117000"/>
              </a:lnSpc>
              <a:buNone/>
            </a:pPr>
            <a:r>
              <a:rPr lang="en-US" sz="1100" dirty="0">
                <a:solidFill>
                  <a:srgbClr val="FFFFFF"/>
                </a:solidFill>
                <a:latin typeface="Bitter" pitchFamily="34" charset="0"/>
                <a:ea typeface="Bitter" pitchFamily="34" charset="-122"/>
                <a:cs typeface="Bitter" pitchFamily="34" charset="-120"/>
              </a:rPr>
              <a:t> Do not confuse this line with a time trend. These are five distinct categories arranged side-by-side. Low-cost impulse buys take heavy discounts; high-ticket home appliances do not.</a:t>
            </a:r>
            <a:endParaRPr lang="en-US" sz="1100" dirty="0"/>
          </a:p>
        </p:txBody>
      </p:sp>
      <p:sp>
        <p:nvSpPr>
          <p:cNvPr id="10" name="Text 7"/>
          <p:cNvSpPr/>
          <p:nvPr/>
        </p:nvSpPr>
        <p:spPr>
          <a:xfrm>
            <a:off x="177895" y="6466086"/>
            <a:ext cx="3095151"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Flipkart Sales Dashboard, Explained Simply</a:t>
            </a:r>
            <a:endParaRPr lang="en-US" sz="1000" dirty="0"/>
          </a:p>
        </p:txBody>
      </p:sp>
      <p:sp>
        <p:nvSpPr>
          <p:cNvPr id="11" name="Text 8"/>
          <p:cNvSpPr/>
          <p:nvPr/>
        </p:nvSpPr>
        <p:spPr>
          <a:xfrm>
            <a:off x="11940975" y="6466086"/>
            <a:ext cx="250720"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1260078"/>
            <a:ext cx="1158211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09 — ORDER DISPERSION</a:t>
            </a:r>
            <a:endParaRPr lang="en-US" sz="1050" dirty="0"/>
          </a:p>
        </p:txBody>
      </p:sp>
      <p:sp>
        <p:nvSpPr>
          <p:cNvPr id="3" name="Text 1"/>
          <p:cNvSpPr/>
          <p:nvPr/>
        </p:nvSpPr>
        <p:spPr>
          <a:xfrm>
            <a:off x="609585" y="1562596"/>
            <a:ext cx="10972526" cy="457200"/>
          </a:xfrm>
          <a:prstGeom prst="rect">
            <a:avLst/>
          </a:prstGeom>
          <a:noFill/>
          <a:ln/>
        </p:spPr>
        <p:txBody>
          <a:bodyPr wrap="none" lIns="0" tIns="0" rIns="0" bIns="0" rtlCol="0" anchor="t"/>
          <a:lstStyle/>
          <a:p>
            <a:pPr algn="l" indent="0" marL="0">
              <a:lnSpc>
                <a:spcPct val="83000"/>
              </a:lnSpc>
              <a:buNone/>
            </a:pPr>
            <a:r>
              <a:rPr lang="en-US" sz="3600" dirty="0">
                <a:solidFill>
                  <a:srgbClr val="F2EDFB"/>
                </a:solidFill>
                <a:latin typeface="Jost" pitchFamily="34" charset="0"/>
                <a:ea typeface="Jost" pitchFamily="34" charset="-122"/>
                <a:cs typeface="Jost" pitchFamily="34" charset="-120"/>
              </a:rPr>
              <a:t>QUANTITY SOLD IS SPREAD ACROSS MANY CITIES</a:t>
            </a:r>
            <a:endParaRPr lang="en-US" sz="3600" dirty="0"/>
          </a:p>
        </p:txBody>
      </p:sp>
      <p:pic>
        <p:nvPicPr>
          <p:cNvPr id="4" name="Image 0" descr="preencoded.png">    </p:cNvPr>
          <p:cNvPicPr>
            <a:picLocks noChangeAspect="1"/>
          </p:cNvPicPr>
          <p:nvPr/>
        </p:nvPicPr>
        <p:blipFill>
          <a:blip r:embed="rId1"/>
          <a:stretch>
            <a:fillRect/>
          </a:stretch>
        </p:blipFill>
        <p:spPr>
          <a:xfrm>
            <a:off x="609585" y="2383334"/>
            <a:ext cx="6349841" cy="2985988"/>
          </a:xfrm>
          <a:prstGeom prst="rect">
            <a:avLst/>
          </a:prstGeom>
        </p:spPr>
      </p:pic>
      <p:sp>
        <p:nvSpPr>
          <p:cNvPr id="5" name="Shape 2"/>
          <p:cNvSpPr/>
          <p:nvPr/>
        </p:nvSpPr>
        <p:spPr>
          <a:xfrm>
            <a:off x="7314918" y="2154734"/>
            <a:ext cx="4267192" cy="3443188"/>
          </a:xfrm>
          <a:prstGeom prst="rect">
            <a:avLst/>
          </a:prstGeom>
          <a:solidFill>
            <a:srgbClr val="17102B"/>
          </a:solidFill>
          <a:ln w="6350">
            <a:solidFill>
              <a:srgbClr val="4A3670"/>
            </a:solidFill>
            <a:prstDash val="solid"/>
          </a:ln>
        </p:spPr>
      </p:sp>
      <p:sp>
        <p:nvSpPr>
          <p:cNvPr id="6" name="Text 3"/>
          <p:cNvSpPr/>
          <p:nvPr/>
        </p:nvSpPr>
        <p:spPr>
          <a:xfrm>
            <a:off x="7549862" y="2694384"/>
            <a:ext cx="4032248"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B79CF5"/>
                </a:solidFill>
                <a:latin typeface="Bitter" pitchFamily="34" charset="0"/>
                <a:ea typeface="Bitter" pitchFamily="34" charset="-122"/>
                <a:cs typeface="Bitter" pitchFamily="34" charset="-120"/>
              </a:rPr>
              <a:t>BROAD REACH</a:t>
            </a:r>
            <a:endParaRPr lang="en-US" sz="1050" dirty="0"/>
          </a:p>
        </p:txBody>
      </p:sp>
      <p:sp>
        <p:nvSpPr>
          <p:cNvPr id="7" name="Text 4"/>
          <p:cNvSpPr/>
          <p:nvPr/>
        </p:nvSpPr>
        <p:spPr>
          <a:xfrm>
            <a:off x="7549862" y="2970867"/>
            <a:ext cx="3797304" cy="237430"/>
          </a:xfrm>
          <a:prstGeom prst="rect">
            <a:avLst/>
          </a:prstGeom>
          <a:noFill/>
          <a:ln/>
        </p:spPr>
        <p:txBody>
          <a:bodyPr wrap="none" lIns="0" tIns="0" rIns="0" bIns="0" rtlCol="0" anchor="t"/>
          <a:lstStyle/>
          <a:p>
            <a:pPr algn="l" indent="0" marL="0">
              <a:lnSpc>
                <a:spcPct val="92000"/>
              </a:lnSpc>
              <a:buNone/>
            </a:pPr>
            <a:r>
              <a:rPr lang="en-US" sz="1700" dirty="0">
                <a:solidFill>
                  <a:srgbClr val="FFFFFF"/>
                </a:solidFill>
                <a:latin typeface="Jost" pitchFamily="34" charset="0"/>
                <a:ea typeface="Jost" pitchFamily="34" charset="-122"/>
                <a:cs typeface="Jost" pitchFamily="34" charset="-120"/>
              </a:rPr>
              <a:t>No single hub dominates</a:t>
            </a:r>
            <a:endParaRPr lang="en-US" sz="1700" dirty="0"/>
          </a:p>
        </p:txBody>
      </p:sp>
      <p:sp>
        <p:nvSpPr>
          <p:cNvPr id="8" name="Text 5"/>
          <p:cNvSpPr/>
          <p:nvPr/>
        </p:nvSpPr>
        <p:spPr>
          <a:xfrm>
            <a:off x="7549862" y="3318470"/>
            <a:ext cx="3797304" cy="639961"/>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FFFFFF"/>
                </a:solidFill>
                <a:latin typeface="Bitter" pitchFamily="34" charset="0"/>
                <a:ea typeface="Bitter" pitchFamily="34" charset="-122"/>
                <a:cs typeface="Bitter" pitchFamily="34" charset="-120"/>
              </a:rPr>
              <a:t>Chandigarh represents the single largest slice with 204 items (6.7%), while most individual cities hover between 3% and 6%.</a:t>
            </a:r>
            <a:endParaRPr lang="en-US" sz="1200" dirty="0"/>
          </a:p>
        </p:txBody>
      </p:sp>
      <p:sp>
        <p:nvSpPr>
          <p:cNvPr id="9" name="Shape 6"/>
          <p:cNvSpPr/>
          <p:nvPr/>
        </p:nvSpPr>
        <p:spPr>
          <a:xfrm>
            <a:off x="7549862" y="4107656"/>
            <a:ext cx="3797205" cy="19050"/>
          </a:xfrm>
          <a:prstGeom prst="roundRect">
            <a:avLst>
              <a:gd name="adj" fmla="val 49999"/>
            </a:avLst>
          </a:prstGeom>
          <a:solidFill>
            <a:srgbClr val="B79CF5"/>
          </a:solidFill>
          <a:ln/>
        </p:spPr>
      </p:sp>
      <p:sp>
        <p:nvSpPr>
          <p:cNvPr id="10" name="Text 7"/>
          <p:cNvSpPr/>
          <p:nvPr/>
        </p:nvSpPr>
        <p:spPr>
          <a:xfrm>
            <a:off x="7549862" y="4275931"/>
            <a:ext cx="3797304" cy="782241"/>
          </a:xfrm>
          <a:prstGeom prst="rect">
            <a:avLst/>
          </a:prstGeom>
          <a:noFill/>
          <a:ln/>
        </p:spPr>
        <p:txBody>
          <a:bodyPr wrap="square" lIns="0" tIns="0" rIns="0" bIns="0" rtlCol="0" anchor="t">
            <a:normAutofit/>
          </a:bodyPr>
          <a:lstStyle/>
          <a:p>
            <a:pPr algn="l" indent="0" marL="0">
              <a:lnSpc>
                <a:spcPct val="117000"/>
              </a:lnSpc>
              <a:buNone/>
            </a:pPr>
            <a:r>
              <a:rPr lang="en-US" sz="1100" b="1" dirty="0">
                <a:solidFill>
                  <a:srgbClr val="FFFFFF"/>
                </a:solidFill>
                <a:latin typeface="Bitter Bold" pitchFamily="34" charset="0"/>
                <a:ea typeface="Bitter Bold" pitchFamily="34" charset="-122"/>
                <a:cs typeface="Bitter Bold" pitchFamily="34" charset="-120"/>
              </a:rPr>
              <a:t>Strategic conclusion:</a:t>
            </a:r>
            <a:pPr algn="l" indent="0" marL="0">
              <a:lnSpc>
                <a:spcPct val="117000"/>
              </a:lnSpc>
              <a:buNone/>
            </a:pPr>
            <a:r>
              <a:rPr lang="en-US" sz="1100" dirty="0">
                <a:solidFill>
                  <a:srgbClr val="FFFFFF"/>
                </a:solidFill>
                <a:latin typeface="Bitter" pitchFamily="34" charset="0"/>
                <a:ea typeface="Bitter" pitchFamily="34" charset="-122"/>
                <a:cs typeface="Bitter" pitchFamily="34" charset="-120"/>
              </a:rPr>
              <a:t> E-commerce demand is genuinely decentralized. Flipkart's supply chain serves dozens of active Tier-1 and Tier-2 clusters rather than relying on a few mega-cities.</a:t>
            </a:r>
            <a:endParaRPr lang="en-US" sz="1100" dirty="0"/>
          </a:p>
        </p:txBody>
      </p:sp>
      <p:sp>
        <p:nvSpPr>
          <p:cNvPr id="11" name="Text 8"/>
          <p:cNvSpPr/>
          <p:nvPr/>
        </p:nvSpPr>
        <p:spPr>
          <a:xfrm>
            <a:off x="177895" y="6466086"/>
            <a:ext cx="3095151"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Flipkart Sales Dashboard, Explained Simply</a:t>
            </a:r>
            <a:endParaRPr lang="en-US" sz="1000" dirty="0"/>
          </a:p>
        </p:txBody>
      </p:sp>
      <p:sp>
        <p:nvSpPr>
          <p:cNvPr id="12" name="Text 9"/>
          <p:cNvSpPr/>
          <p:nvPr/>
        </p:nvSpPr>
        <p:spPr>
          <a:xfrm>
            <a:off x="11883628" y="6466086"/>
            <a:ext cx="308067" cy="174129"/>
          </a:xfrm>
          <a:prstGeom prst="rect">
            <a:avLst/>
          </a:prstGeom>
          <a:noFill/>
          <a:ln/>
        </p:spPr>
        <p:txBody>
          <a:bodyPr wrap="none" lIns="0" tIns="0" rIns="0" bIns="0" rtlCol="0" anchor="ctr"/>
          <a:lstStyle/>
          <a:p>
            <a:pPr algn="l" indent="0" marL="0">
              <a:lnSpc>
                <a:spcPct val="117000"/>
              </a:lnSpc>
              <a:buNone/>
            </a:pPr>
            <a:r>
              <a:rPr lang="en-US" sz="1000" dirty="0">
                <a:solidFill>
                  <a:srgbClr val="F2EDFB"/>
                </a:solidFill>
                <a:latin typeface="Bitter" pitchFamily="34" charset="0"/>
                <a:ea typeface="Bitter" pitchFamily="34" charset="-122"/>
                <a:cs typeface="Bitter"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2026-10-11T10:40:37Z</dcterms:created>
  <dcterms:modified xsi:type="dcterms:W3CDTF">2026-10-11T10:40:37Z</dcterms:modified>
</cp:coreProperties>
</file>